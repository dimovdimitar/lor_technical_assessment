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8"/>
  </p:notesMasterIdLst>
  <p:sldIdLst>
    <p:sldId id="256" r:id="rId2"/>
    <p:sldId id="257" r:id="rId3"/>
    <p:sldId id="258" r:id="rId4"/>
    <p:sldId id="259" r:id="rId5"/>
    <p:sldId id="260" r:id="rId6"/>
    <p:sldId id="262" r:id="rId7"/>
    <p:sldId id="261" r:id="rId8"/>
    <p:sldId id="270" r:id="rId9"/>
    <p:sldId id="263" r:id="rId10"/>
    <p:sldId id="271"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27" autoAdjust="0"/>
    <p:restoredTop sz="94660"/>
  </p:normalViewPr>
  <p:slideViewPr>
    <p:cSldViewPr snapToGrid="0">
      <p:cViewPr varScale="1">
        <p:scale>
          <a:sx n="114" d="100"/>
          <a:sy n="114" d="100"/>
        </p:scale>
        <p:origin x="56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1E3D60-02B5-48DA-9CEE-E0397068A0FA}" type="datetimeFigureOut">
              <a:rPr lang="en-GB" smtClean="0"/>
              <a:t>29/07/2020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D04AFF-B17F-47F8-AF53-C042A2FCA387}" type="slidenum">
              <a:rPr lang="en-GB" smtClean="0"/>
              <a:t>‹#›</a:t>
            </a:fld>
            <a:endParaRPr lang="en-GB"/>
          </a:p>
        </p:txBody>
      </p:sp>
    </p:spTree>
    <p:extLst>
      <p:ext uri="{BB962C8B-B14F-4D97-AF65-F5344CB8AC3E}">
        <p14:creationId xmlns:p14="http://schemas.microsoft.com/office/powerpoint/2010/main" val="4041117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3C787435-16EA-4F72-BBD2-9ABF9CE9C84B}" type="datetime1">
              <a:rPr lang="en-US" smtClean="0"/>
              <a:t>7/29/2020</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r>
              <a:rPr lang="en-US"/>
              <a:t>Dr Dimitar Dimov - Data Analyst Candidate at LOR</a:t>
            </a:r>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A2BD1C-5E8E-41EA-85C7-B0905ABD4D53}" type="datetime1">
              <a:rPr lang="en-US" smtClean="0"/>
              <a:t>7/29/2020</a:t>
            </a:fld>
            <a:endParaRPr lang="en-US" dirty="0"/>
          </a:p>
        </p:txBody>
      </p:sp>
      <p:sp>
        <p:nvSpPr>
          <p:cNvPr id="5" name="Footer Placeholder 4"/>
          <p:cNvSpPr>
            <a:spLocks noGrp="1"/>
          </p:cNvSpPr>
          <p:nvPr>
            <p:ph type="ftr" sz="quarter" idx="11"/>
          </p:nvPr>
        </p:nvSpPr>
        <p:spPr/>
        <p:txBody>
          <a:bodyPr/>
          <a:lstStyle/>
          <a:p>
            <a:pPr algn="ctr"/>
            <a:r>
              <a:rPr lang="en-US" dirty="0"/>
              <a:t>Dr Dimitar Dimov - Data Analyst Candidate at LOR</a:t>
            </a:r>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9E5BAB83-B75F-4C72-BC11-E053106982C9}" type="datetime1">
              <a:rPr lang="en-US" smtClean="0"/>
              <a:t>7/29/2020</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a:t>Dr Dimitar Dimov - Data Analyst Candidate at LOR</a:t>
            </a:r>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6B2F71-D2EC-46D0-9BF9-4696E702900B}" type="datetime1">
              <a:rPr lang="en-US" smtClean="0"/>
              <a:t>7/29/2020</a:t>
            </a:fld>
            <a:endParaRPr lang="en-US" dirty="0"/>
          </a:p>
        </p:txBody>
      </p:sp>
      <p:sp>
        <p:nvSpPr>
          <p:cNvPr id="6" name="Footer Placeholder 5"/>
          <p:cNvSpPr>
            <a:spLocks noGrp="1"/>
          </p:cNvSpPr>
          <p:nvPr>
            <p:ph type="ftr" sz="quarter" idx="11"/>
          </p:nvPr>
        </p:nvSpPr>
        <p:spPr/>
        <p:txBody>
          <a:bodyPr/>
          <a:lstStyle/>
          <a:p>
            <a:pPr algn="ctr"/>
            <a:r>
              <a:rPr lang="en-US" dirty="0"/>
              <a:t>Dr Dimitar Dimov - Data Analyst Candidate at LOR</a:t>
            </a:r>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60E57E-9E4F-4D89-B76A-D1E4F6BC91E4}" type="datetime1">
              <a:rPr lang="en-US" smtClean="0"/>
              <a:t>7/29/2020</a:t>
            </a:fld>
            <a:endParaRPr lang="en-US" dirty="0"/>
          </a:p>
        </p:txBody>
      </p:sp>
      <p:sp>
        <p:nvSpPr>
          <p:cNvPr id="8" name="Footer Placeholder 7"/>
          <p:cNvSpPr>
            <a:spLocks noGrp="1"/>
          </p:cNvSpPr>
          <p:nvPr>
            <p:ph type="ftr" sz="quarter" idx="11"/>
          </p:nvPr>
        </p:nvSpPr>
        <p:spPr/>
        <p:txBody>
          <a:bodyPr/>
          <a:lstStyle/>
          <a:p>
            <a:pPr algn="ctr"/>
            <a:r>
              <a:rPr lang="en-US" dirty="0"/>
              <a:t>Dr Dimitar Dimov - Data Analyst Candidate at LOR</a:t>
            </a:r>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26A85-6EF4-4685-AFD7-329AF1A38737}" type="datetime1">
              <a:rPr lang="en-US" smtClean="0"/>
              <a:t>7/29/2020</a:t>
            </a:fld>
            <a:endParaRPr lang="en-US" dirty="0"/>
          </a:p>
        </p:txBody>
      </p:sp>
      <p:sp>
        <p:nvSpPr>
          <p:cNvPr id="4" name="Footer Placeholder 3"/>
          <p:cNvSpPr>
            <a:spLocks noGrp="1"/>
          </p:cNvSpPr>
          <p:nvPr>
            <p:ph type="ftr" sz="quarter" idx="11"/>
          </p:nvPr>
        </p:nvSpPr>
        <p:spPr/>
        <p:txBody>
          <a:bodyPr/>
          <a:lstStyle/>
          <a:p>
            <a:pPr algn="ctr"/>
            <a:r>
              <a:rPr lang="en-US" dirty="0"/>
              <a:t>Dr Dimitar Dimov - Data Analyst Candidate at LOR</a:t>
            </a:r>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09D167-55BF-4CF7-8788-207059628739}" type="datetime1">
              <a:rPr lang="en-US" smtClean="0"/>
              <a:t>7/29/2020</a:t>
            </a:fld>
            <a:endParaRPr lang="en-US" dirty="0"/>
          </a:p>
        </p:txBody>
      </p:sp>
      <p:sp>
        <p:nvSpPr>
          <p:cNvPr id="3" name="Footer Placeholder 2"/>
          <p:cNvSpPr>
            <a:spLocks noGrp="1"/>
          </p:cNvSpPr>
          <p:nvPr>
            <p:ph type="ftr" sz="quarter" idx="11"/>
          </p:nvPr>
        </p:nvSpPr>
        <p:spPr/>
        <p:txBody>
          <a:bodyPr/>
          <a:lstStyle/>
          <a:p>
            <a:pPr algn="ctr"/>
            <a:r>
              <a:rPr lang="en-US" dirty="0"/>
              <a:t>Dr Dimitar Dimov - Data Analyst Candidate at LOR</a:t>
            </a:r>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713320A-3939-4855-B9E8-6AAB2CA8D9F6}" type="datetime1">
              <a:rPr lang="en-US" smtClean="0"/>
              <a:t>7/29/2020</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Dr Dimitar Dimov - Data Analyst Candidate at LOR</a:t>
            </a:r>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F4FD7F40-C986-4C3E-9AA9-7BD2E2C58246}" type="datetime1">
              <a:rPr lang="en-US" smtClean="0"/>
              <a:t>7/29/2020</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Dr Dimitar Dimov - Data Analyst Candidate at LOR</a:t>
            </a:r>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6C0932-9E3B-45A5-86C9-F84D626C21D9}" type="datetime1">
              <a:rPr lang="en-US" smtClean="0"/>
              <a:t>7/29/2020</a:t>
            </a:fld>
            <a:endParaRPr lang="en-US" dirty="0"/>
          </a:p>
        </p:txBody>
      </p:sp>
      <p:sp>
        <p:nvSpPr>
          <p:cNvPr id="5" name="Footer Placeholder 4"/>
          <p:cNvSpPr>
            <a:spLocks noGrp="1"/>
          </p:cNvSpPr>
          <p:nvPr>
            <p:ph type="ftr" sz="quarter" idx="11"/>
          </p:nvPr>
        </p:nvSpPr>
        <p:spPr/>
        <p:txBody>
          <a:bodyPr/>
          <a:lstStyle/>
          <a:p>
            <a:pPr algn="ctr"/>
            <a:r>
              <a:rPr lang="en-US" dirty="0"/>
              <a:t>Dr Dimitar Dimov - Data Analyst Candidate at LOR</a:t>
            </a:r>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9E73BD-672B-429A-995B-F26E8280E76A}" type="datetime1">
              <a:rPr lang="en-US" smtClean="0"/>
              <a:t>7/29/2020</a:t>
            </a:fld>
            <a:endParaRPr lang="en-US" dirty="0"/>
          </a:p>
        </p:txBody>
      </p:sp>
      <p:sp>
        <p:nvSpPr>
          <p:cNvPr id="5" name="Footer Placeholder 4"/>
          <p:cNvSpPr>
            <a:spLocks noGrp="1"/>
          </p:cNvSpPr>
          <p:nvPr>
            <p:ph type="ftr" sz="quarter" idx="11"/>
          </p:nvPr>
        </p:nvSpPr>
        <p:spPr/>
        <p:txBody>
          <a:bodyPr/>
          <a:lstStyle/>
          <a:p>
            <a:pPr algn="ctr"/>
            <a:r>
              <a:rPr lang="en-US" dirty="0"/>
              <a:t>Dr Dimitar Dimov - Data Analyst Candidate at LOR</a:t>
            </a:r>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6FBC9CD4-A52A-4261-ABA5-44802A1F4B66}" type="datetime1">
              <a:rPr lang="en-US" smtClean="0"/>
              <a:t>7/29/2020</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r>
              <a:rPr lang="en-US"/>
              <a:t>Dr Dimitar Dimov - Data Analyst Candidate at LOR</a:t>
            </a:r>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8F0C3-CB77-4712-B3E0-AA6C172B0826}"/>
              </a:ext>
            </a:extLst>
          </p:cNvPr>
          <p:cNvSpPr>
            <a:spLocks noGrp="1"/>
          </p:cNvSpPr>
          <p:nvPr>
            <p:ph type="ctrTitle"/>
          </p:nvPr>
        </p:nvSpPr>
        <p:spPr/>
        <p:txBody>
          <a:bodyPr/>
          <a:lstStyle/>
          <a:p>
            <a:r>
              <a:rPr lang="en-GB" sz="5400" dirty="0"/>
              <a:t>Data analyst </a:t>
            </a:r>
            <a:br>
              <a:rPr lang="en-GB" sz="5400" dirty="0"/>
            </a:br>
            <a:r>
              <a:rPr lang="en-GB" sz="5400" dirty="0"/>
              <a:t>technical assessment Answers</a:t>
            </a:r>
          </a:p>
        </p:txBody>
      </p:sp>
      <p:sp>
        <p:nvSpPr>
          <p:cNvPr id="3" name="Subtitle 2">
            <a:extLst>
              <a:ext uri="{FF2B5EF4-FFF2-40B4-BE49-F238E27FC236}">
                <a16:creationId xmlns:a16="http://schemas.microsoft.com/office/drawing/2014/main" id="{C631C63A-7648-4EA8-A449-99A026501260}"/>
              </a:ext>
            </a:extLst>
          </p:cNvPr>
          <p:cNvSpPr>
            <a:spLocks noGrp="1"/>
          </p:cNvSpPr>
          <p:nvPr>
            <p:ph type="subTitle" idx="1"/>
          </p:nvPr>
        </p:nvSpPr>
        <p:spPr/>
        <p:txBody>
          <a:bodyPr>
            <a:normAutofit fontScale="92500" lnSpcReduction="10000"/>
          </a:bodyPr>
          <a:lstStyle/>
          <a:p>
            <a:r>
              <a:rPr lang="en-GB" dirty="0"/>
              <a:t>July 2020</a:t>
            </a:r>
          </a:p>
          <a:p>
            <a:r>
              <a:rPr lang="en-GB" dirty="0"/>
              <a:t>Dr Dimitar Dimov</a:t>
            </a:r>
          </a:p>
          <a:p>
            <a:r>
              <a:rPr lang="en-GB" dirty="0"/>
              <a:t>Candidate at Laing O’Rourke</a:t>
            </a:r>
          </a:p>
        </p:txBody>
      </p:sp>
    </p:spTree>
    <p:extLst>
      <p:ext uri="{BB962C8B-B14F-4D97-AF65-F5344CB8AC3E}">
        <p14:creationId xmlns:p14="http://schemas.microsoft.com/office/powerpoint/2010/main" val="2636474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4603B-FA3A-4993-B3E2-FB2167E96432}"/>
              </a:ext>
            </a:extLst>
          </p:cNvPr>
          <p:cNvSpPr>
            <a:spLocks noGrp="1"/>
          </p:cNvSpPr>
          <p:nvPr>
            <p:ph type="title"/>
          </p:nvPr>
        </p:nvSpPr>
        <p:spPr>
          <a:xfrm>
            <a:off x="1371600" y="685800"/>
            <a:ext cx="9601200" cy="725905"/>
          </a:xfrm>
        </p:spPr>
        <p:txBody>
          <a:bodyPr/>
          <a:lstStyle/>
          <a:p>
            <a:r>
              <a:rPr lang="en-GB" dirty="0"/>
              <a:t>Question 1</a:t>
            </a:r>
          </a:p>
        </p:txBody>
      </p:sp>
      <p:sp>
        <p:nvSpPr>
          <p:cNvPr id="3" name="Content Placeholder 2">
            <a:extLst>
              <a:ext uri="{FF2B5EF4-FFF2-40B4-BE49-F238E27FC236}">
                <a16:creationId xmlns:a16="http://schemas.microsoft.com/office/drawing/2014/main" id="{DC7C07DB-17D1-4D8F-B71F-AD111F0862F3}"/>
              </a:ext>
            </a:extLst>
          </p:cNvPr>
          <p:cNvSpPr>
            <a:spLocks noGrp="1"/>
          </p:cNvSpPr>
          <p:nvPr>
            <p:ph idx="1"/>
          </p:nvPr>
        </p:nvSpPr>
        <p:spPr>
          <a:xfrm>
            <a:off x="1390650" y="1411705"/>
            <a:ext cx="9601200" cy="5005137"/>
          </a:xfrm>
        </p:spPr>
        <p:txBody>
          <a:bodyPr>
            <a:normAutofit lnSpcReduction="10000"/>
          </a:bodyPr>
          <a:lstStyle/>
          <a:p>
            <a:pPr marL="342900" lvl="0" indent="-342900">
              <a:lnSpc>
                <a:spcPct val="107000"/>
              </a:lnSpc>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In terms of representativeness of real-world datasets – this is a typical SQL export dataset of multiple joined tables from a retailer keeping records of their sales activity </a:t>
            </a:r>
          </a:p>
          <a:p>
            <a:pPr marL="342900" lvl="0" indent="-342900">
              <a:lnSpc>
                <a:spcPct val="107000"/>
              </a:lnSpc>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It is a time-series dataset – each new entry is recorded with a time stamp </a:t>
            </a:r>
          </a:p>
          <a:p>
            <a:pPr marL="742950" lvl="1" indent="-285750">
              <a:lnSpc>
                <a:spcPct val="107000"/>
              </a:lnSpc>
              <a:buFont typeface="Courier New" panose="02070309020205020404" pitchFamily="49" charset="0"/>
              <a:buChar char="o"/>
            </a:pPr>
            <a:r>
              <a:rPr lang="en-GB" sz="1400" dirty="0">
                <a:effectLst/>
                <a:latin typeface="Calibri" panose="020F0502020204030204" pitchFamily="34" charset="0"/>
                <a:ea typeface="Calibri" panose="020F0502020204030204" pitchFamily="34" charset="0"/>
                <a:cs typeface="Times New Roman" panose="02020603050405020304" pitchFamily="18" charset="0"/>
              </a:rPr>
              <a:t>This is good for identifying cyclical trends based on hours / days / months (seasonality)</a:t>
            </a:r>
          </a:p>
          <a:p>
            <a:pPr marL="742950" lvl="1" indent="-285750">
              <a:lnSpc>
                <a:spcPct val="107000"/>
              </a:lnSpc>
              <a:buFont typeface="Courier New" panose="02070309020205020404" pitchFamily="49" charset="0"/>
              <a:buChar char="o"/>
            </a:pPr>
            <a:r>
              <a:rPr lang="en-GB" sz="1400" dirty="0">
                <a:effectLst/>
                <a:latin typeface="Calibri" panose="020F0502020204030204" pitchFamily="34" charset="0"/>
                <a:ea typeface="Calibri" panose="020F0502020204030204" pitchFamily="34" charset="0"/>
                <a:cs typeface="Times New Roman" panose="02020603050405020304" pitchFamily="18" charset="0"/>
              </a:rPr>
              <a:t>Once a trend is found, you can make recommendations for optimisation, cost cutting and increasing revenue</a:t>
            </a:r>
          </a:p>
          <a:p>
            <a:pPr marL="742950" lvl="1" indent="-285750">
              <a:lnSpc>
                <a:spcPct val="107000"/>
              </a:lnSpc>
              <a:buFont typeface="Courier New" panose="02070309020205020404" pitchFamily="49" charset="0"/>
              <a:buChar char="o"/>
            </a:pPr>
            <a:r>
              <a:rPr lang="en-GB" sz="1400" dirty="0">
                <a:effectLst/>
                <a:latin typeface="Calibri" panose="020F0502020204030204" pitchFamily="34" charset="0"/>
                <a:ea typeface="Calibri" panose="020F0502020204030204" pitchFamily="34" charset="0"/>
                <a:cs typeface="Times New Roman" panose="02020603050405020304" pitchFamily="18" charset="0"/>
              </a:rPr>
              <a:t>A supervised machine learning model can be applied to forecast dependent variables (</a:t>
            </a:r>
            <a:r>
              <a:rPr lang="en-GB" sz="1400" dirty="0" err="1">
                <a:effectLst/>
                <a:latin typeface="Calibri" panose="020F0502020204030204" pitchFamily="34" charset="0"/>
                <a:ea typeface="Calibri" panose="020F0502020204030204" pitchFamily="34" charset="0"/>
                <a:cs typeface="Times New Roman" panose="02020603050405020304" pitchFamily="18" charset="0"/>
              </a:rPr>
              <a:t>ie</a:t>
            </a:r>
            <a:r>
              <a:rPr lang="en-GB" sz="1400" dirty="0">
                <a:effectLst/>
                <a:latin typeface="Calibri" panose="020F0502020204030204" pitchFamily="34" charset="0"/>
                <a:ea typeface="Calibri" panose="020F0502020204030204" pitchFamily="34" charset="0"/>
                <a:cs typeface="Times New Roman" panose="02020603050405020304" pitchFamily="18" charset="0"/>
              </a:rPr>
              <a:t> profits)</a:t>
            </a:r>
          </a:p>
          <a:p>
            <a:pPr marL="342900" lvl="0" indent="-342900">
              <a:lnSpc>
                <a:spcPct val="107000"/>
              </a:lnSpc>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The </a:t>
            </a:r>
            <a:r>
              <a:rPr lang="en-GB" sz="1400" dirty="0" err="1">
                <a:effectLst/>
                <a:latin typeface="Calibri" panose="020F0502020204030204" pitchFamily="34" charset="0"/>
                <a:ea typeface="Calibri" panose="020F0502020204030204" pitchFamily="34" charset="0"/>
                <a:cs typeface="Times New Roman" panose="02020603050405020304" pitchFamily="18" charset="0"/>
              </a:rPr>
              <a:t>InvoiceNo</a:t>
            </a:r>
            <a:r>
              <a:rPr lang="en-GB" sz="1400" dirty="0">
                <a:effectLst/>
                <a:latin typeface="Calibri" panose="020F0502020204030204" pitchFamily="34" charset="0"/>
                <a:ea typeface="Calibri" panose="020F0502020204030204" pitchFamily="34" charset="0"/>
                <a:cs typeface="Times New Roman" panose="02020603050405020304" pitchFamily="18" charset="0"/>
              </a:rPr>
              <a:t> column is the unique identifier (primary key in SQL) so it would make sense to collect and store the data in a relational database with multiple tables (you can have multiple invoices for one customer but not multiple customers on one invoice) </a:t>
            </a:r>
          </a:p>
          <a:p>
            <a:pPr marL="342900" lvl="0" indent="-342900">
              <a:lnSpc>
                <a:spcPct val="107000"/>
              </a:lnSpc>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There are 500k+ rows – even after cleaning the missing values this still will be considered a large dataset, hence, the machine learning prediction models may have good degree of accuracy and the conclusions made about purchasing trends and customers’ behaviour </a:t>
            </a:r>
            <a:r>
              <a:rPr lang="en-GB" sz="1400" dirty="0">
                <a:latin typeface="Calibri" panose="020F0502020204030204" pitchFamily="34" charset="0"/>
                <a:ea typeface="Calibri" panose="020F0502020204030204" pitchFamily="34" charset="0"/>
                <a:cs typeface="Times New Roman" panose="02020603050405020304" pitchFamily="18" charset="0"/>
              </a:rPr>
              <a:t>may</a:t>
            </a:r>
            <a:r>
              <a:rPr lang="en-GB" sz="1400" dirty="0">
                <a:effectLst/>
                <a:latin typeface="Calibri" panose="020F0502020204030204" pitchFamily="34" charset="0"/>
                <a:ea typeface="Calibri" panose="020F0502020204030204" pitchFamily="34" charset="0"/>
                <a:cs typeface="Times New Roman" panose="02020603050405020304" pitchFamily="18" charset="0"/>
              </a:rPr>
              <a:t> also have high degree of certainty </a:t>
            </a:r>
          </a:p>
          <a:p>
            <a:pPr marL="342900" lvl="0" indent="-342900">
              <a:lnSpc>
                <a:spcPct val="107000"/>
              </a:lnSpc>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We have number of units sold (Quantity) and Unit Price so I would immediately create a new column labelled Total Sales</a:t>
            </a:r>
          </a:p>
          <a:p>
            <a:pPr marL="342900" lvl="0" indent="-342900">
              <a:lnSpc>
                <a:spcPct val="107000"/>
              </a:lnSpc>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Following these calculations, we can visualise daily, weekly or monthly revenues and categorise them by product, returning customers etc. This would be best done if we load the cleaned and processed data in Tableau or Power BI </a:t>
            </a:r>
          </a:p>
          <a:p>
            <a:pPr marL="342900" lvl="0" indent="-342900">
              <a:lnSpc>
                <a:spcPct val="107000"/>
              </a:lnSpc>
              <a:spcAft>
                <a:spcPts val="800"/>
              </a:spcAft>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We can group and sort the data to find the outliers – the best-selling and the worst selling products, clients with most purchases and countries generating the highest revenue </a:t>
            </a:r>
          </a:p>
        </p:txBody>
      </p:sp>
      <p:sp>
        <p:nvSpPr>
          <p:cNvPr id="4" name="Date Placeholder 3">
            <a:extLst>
              <a:ext uri="{FF2B5EF4-FFF2-40B4-BE49-F238E27FC236}">
                <a16:creationId xmlns:a16="http://schemas.microsoft.com/office/drawing/2014/main" id="{F80F4239-2A21-4FF3-90AB-447E76E26D23}"/>
              </a:ext>
            </a:extLst>
          </p:cNvPr>
          <p:cNvSpPr>
            <a:spLocks noGrp="1"/>
          </p:cNvSpPr>
          <p:nvPr>
            <p:ph type="dt" sz="half" idx="10"/>
          </p:nvPr>
        </p:nvSpPr>
        <p:spPr/>
        <p:txBody>
          <a:bodyPr/>
          <a:lstStyle/>
          <a:p>
            <a:fld id="{7BE829A5-EB30-46DC-A0C2-930B58495CC2}" type="datetime1">
              <a:rPr lang="en-US" smtClean="0"/>
              <a:t>7/29/2020</a:t>
            </a:fld>
            <a:endParaRPr lang="en-US" dirty="0"/>
          </a:p>
        </p:txBody>
      </p:sp>
      <p:sp>
        <p:nvSpPr>
          <p:cNvPr id="5" name="Footer Placeholder 4">
            <a:extLst>
              <a:ext uri="{FF2B5EF4-FFF2-40B4-BE49-F238E27FC236}">
                <a16:creationId xmlns:a16="http://schemas.microsoft.com/office/drawing/2014/main" id="{61A72ABA-7657-43BE-8046-CD4A36C074B6}"/>
              </a:ext>
            </a:extLst>
          </p:cNvPr>
          <p:cNvSpPr>
            <a:spLocks noGrp="1"/>
          </p:cNvSpPr>
          <p:nvPr>
            <p:ph type="ftr" sz="quarter" idx="11"/>
          </p:nvPr>
        </p:nvSpPr>
        <p:spPr/>
        <p:txBody>
          <a:bodyPr/>
          <a:lstStyle/>
          <a:p>
            <a:r>
              <a:rPr lang="en-US"/>
              <a:t>Dr Dimitar Dimov - Data Analyst Candidate at LOR</a:t>
            </a:r>
            <a:endParaRPr lang="en-US" dirty="0"/>
          </a:p>
        </p:txBody>
      </p:sp>
      <p:sp>
        <p:nvSpPr>
          <p:cNvPr id="6" name="Slide Number Placeholder 5">
            <a:extLst>
              <a:ext uri="{FF2B5EF4-FFF2-40B4-BE49-F238E27FC236}">
                <a16:creationId xmlns:a16="http://schemas.microsoft.com/office/drawing/2014/main" id="{A8900208-AC69-423B-8AA7-7AD6CE7C3FBD}"/>
              </a:ext>
            </a:extLst>
          </p:cNvPr>
          <p:cNvSpPr>
            <a:spLocks noGrp="1"/>
          </p:cNvSpPr>
          <p:nvPr>
            <p:ph type="sldNum" sz="quarter" idx="12"/>
          </p:nvPr>
        </p:nvSpPr>
        <p:spPr/>
        <p:txBody>
          <a:bodyPr/>
          <a:lstStyle/>
          <a:p>
            <a:fld id="{69E57DC2-970A-4B3E-BB1C-7A09969E49DF}" type="slidenum">
              <a:rPr lang="en-US" smtClean="0"/>
              <a:t>2</a:t>
            </a:fld>
            <a:endParaRPr lang="en-US" dirty="0"/>
          </a:p>
        </p:txBody>
      </p:sp>
    </p:spTree>
    <p:extLst>
      <p:ext uri="{BB962C8B-B14F-4D97-AF65-F5344CB8AC3E}">
        <p14:creationId xmlns:p14="http://schemas.microsoft.com/office/powerpoint/2010/main" val="4166090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0D3CAD-07EC-4F9F-89A4-22300E8A2321}"/>
              </a:ext>
            </a:extLst>
          </p:cNvPr>
          <p:cNvSpPr>
            <a:spLocks noGrp="1"/>
          </p:cNvSpPr>
          <p:nvPr>
            <p:ph idx="1"/>
          </p:nvPr>
        </p:nvSpPr>
        <p:spPr>
          <a:xfrm>
            <a:off x="1371600" y="1411705"/>
            <a:ext cx="9953538" cy="5041681"/>
          </a:xfrm>
        </p:spPr>
        <p:txBody>
          <a:bodyPr>
            <a:normAutofit lnSpcReduction="10000"/>
          </a:bodyPr>
          <a:lstStyle/>
          <a:p>
            <a:pPr marL="0" indent="0">
              <a:lnSpc>
                <a:spcPct val="107000"/>
              </a:lnSpc>
              <a:spcAft>
                <a:spcPts val="800"/>
              </a:spcAft>
              <a:buNone/>
            </a:pPr>
            <a:r>
              <a:rPr lang="en-GB" sz="1100" dirty="0">
                <a:effectLst/>
                <a:latin typeface="Calibri" panose="020F0502020204030204" pitchFamily="34" charset="0"/>
                <a:ea typeface="Calibri" panose="020F0502020204030204" pitchFamily="34" charset="0"/>
                <a:cs typeface="Times New Roman" panose="02020603050405020304" pitchFamily="18" charset="0"/>
              </a:rPr>
              <a:t>Before performing any analysis, I always spend some quality time </a:t>
            </a:r>
            <a:r>
              <a:rPr lang="en-GB" sz="1100" dirty="0">
                <a:latin typeface="Calibri" panose="020F0502020204030204" pitchFamily="34" charset="0"/>
                <a:ea typeface="Calibri" panose="020F0502020204030204" pitchFamily="34" charset="0"/>
                <a:cs typeface="Times New Roman" panose="02020603050405020304" pitchFamily="18" charset="0"/>
              </a:rPr>
              <a:t>reading through </a:t>
            </a:r>
            <a:r>
              <a:rPr lang="en-GB" sz="1100" dirty="0">
                <a:effectLst/>
                <a:latin typeface="Calibri" panose="020F0502020204030204" pitchFamily="34" charset="0"/>
                <a:ea typeface="Calibri" panose="020F0502020204030204" pitchFamily="34" charset="0"/>
                <a:cs typeface="Times New Roman" panose="02020603050405020304" pitchFamily="18" charset="0"/>
              </a:rPr>
              <a:t>the data in Excel to better understand the content, data types, scroll down to find any immediate / easy to spot irregularities. If the dataset has more than 10 columns ther</a:t>
            </a:r>
            <a:r>
              <a:rPr lang="en-GB" sz="1100" dirty="0">
                <a:latin typeface="Calibri" panose="020F0502020204030204" pitchFamily="34" charset="0"/>
                <a:ea typeface="Calibri" panose="020F0502020204030204" pitchFamily="34" charset="0"/>
                <a:cs typeface="Times New Roman" panose="02020603050405020304" pitchFamily="18" charset="0"/>
              </a:rPr>
              <a:t>e is no point in this visual observation and I would go straight to coding. </a:t>
            </a:r>
          </a:p>
          <a:p>
            <a:pPr marL="0" indent="0">
              <a:lnSpc>
                <a:spcPct val="107000"/>
              </a:lnSpc>
              <a:spcAft>
                <a:spcPts val="800"/>
              </a:spcAft>
              <a:buNone/>
            </a:pPr>
            <a:r>
              <a:rPr lang="en-GB" sz="1100" dirty="0">
                <a:effectLst/>
                <a:latin typeface="Calibri" panose="020F0502020204030204" pitchFamily="34" charset="0"/>
                <a:ea typeface="Calibri" panose="020F0502020204030204" pitchFamily="34" charset="0"/>
                <a:cs typeface="Times New Roman" panose="02020603050405020304" pitchFamily="18" charset="0"/>
              </a:rPr>
              <a:t>Moving onto Python, I loaded the csv file in a pandas </a:t>
            </a:r>
            <a:r>
              <a:rPr lang="en-GB" sz="1100" dirty="0" err="1">
                <a:effectLst/>
                <a:latin typeface="Calibri" panose="020F0502020204030204" pitchFamily="34" charset="0"/>
                <a:ea typeface="Calibri" panose="020F0502020204030204" pitchFamily="34" charset="0"/>
                <a:cs typeface="Times New Roman" panose="02020603050405020304" pitchFamily="18" charset="0"/>
              </a:rPr>
              <a:t>dataframe</a:t>
            </a:r>
            <a:r>
              <a:rPr lang="en-GB" sz="1100" dirty="0">
                <a:effectLst/>
                <a:latin typeface="Calibri" panose="020F0502020204030204" pitchFamily="34" charset="0"/>
                <a:ea typeface="Calibri" panose="020F0502020204030204" pitchFamily="34" charset="0"/>
                <a:cs typeface="Times New Roman" panose="02020603050405020304" pitchFamily="18" charset="0"/>
              </a:rPr>
              <a:t>. Since it is a time series data, it makes sense to use the </a:t>
            </a:r>
            <a:r>
              <a:rPr lang="en-GB" sz="1100" dirty="0" err="1">
                <a:effectLst/>
                <a:latin typeface="Calibri" panose="020F0502020204030204" pitchFamily="34" charset="0"/>
                <a:ea typeface="Calibri" panose="020F0502020204030204" pitchFamily="34" charset="0"/>
                <a:cs typeface="Times New Roman" panose="02020603050405020304" pitchFamily="18" charset="0"/>
              </a:rPr>
              <a:t>InvoiceDate</a:t>
            </a:r>
            <a:r>
              <a:rPr lang="en-GB" sz="1100" dirty="0">
                <a:effectLst/>
                <a:latin typeface="Calibri" panose="020F0502020204030204" pitchFamily="34" charset="0"/>
                <a:ea typeface="Calibri" panose="020F0502020204030204" pitchFamily="34" charset="0"/>
                <a:cs typeface="Times New Roman" panose="02020603050405020304" pitchFamily="18" charset="0"/>
              </a:rPr>
              <a:t> for parsing the dates. The first two checks are data.info() and </a:t>
            </a:r>
            <a:r>
              <a:rPr lang="en-GB" sz="1100" dirty="0" err="1">
                <a:effectLst/>
                <a:latin typeface="Calibri" panose="020F0502020204030204" pitchFamily="34" charset="0"/>
                <a:ea typeface="Calibri" panose="020F0502020204030204" pitchFamily="34" charset="0"/>
                <a:cs typeface="Times New Roman" panose="02020603050405020304" pitchFamily="18" charset="0"/>
              </a:rPr>
              <a:t>data.describe</a:t>
            </a:r>
            <a:r>
              <a:rPr lang="en-GB" sz="1100" dirty="0">
                <a:effectLst/>
                <a:latin typeface="Calibri" panose="020F0502020204030204" pitchFamily="34" charset="0"/>
                <a:ea typeface="Calibri" panose="020F0502020204030204" pitchFamily="34" charset="0"/>
                <a:cs typeface="Times New Roman" panose="02020603050405020304" pitchFamily="18" charset="0"/>
              </a:rPr>
              <a:t>() to better understand the types of data in each column and find where the missing values are. </a:t>
            </a:r>
          </a:p>
          <a:p>
            <a:pPr marL="0" indent="0">
              <a:lnSpc>
                <a:spcPct val="107000"/>
              </a:lnSpc>
              <a:spcAft>
                <a:spcPts val="800"/>
              </a:spcAft>
              <a:buNone/>
            </a:pPr>
            <a:r>
              <a:rPr lang="en-GB" sz="1100" dirty="0">
                <a:effectLst/>
                <a:latin typeface="Calibri" panose="020F0502020204030204" pitchFamily="34" charset="0"/>
                <a:ea typeface="Calibri" panose="020F0502020204030204" pitchFamily="34" charset="0"/>
                <a:cs typeface="Times New Roman" panose="02020603050405020304" pitchFamily="18" charset="0"/>
              </a:rPr>
              <a:t>There is one key observation which has to be analysed for this specific dataset. </a:t>
            </a:r>
          </a:p>
          <a:p>
            <a:pPr lvl="1">
              <a:lnSpc>
                <a:spcPct val="107000"/>
              </a:lnSpc>
              <a:spcAft>
                <a:spcPts val="800"/>
              </a:spcAft>
            </a:pPr>
            <a:r>
              <a:rPr lang="en-GB" sz="1100" dirty="0">
                <a:effectLst/>
                <a:latin typeface="Calibri" panose="020F0502020204030204" pitchFamily="34" charset="0"/>
                <a:ea typeface="Calibri" panose="020F0502020204030204" pitchFamily="34" charset="0"/>
                <a:cs typeface="Times New Roman" panose="02020603050405020304" pitchFamily="18" charset="0"/>
              </a:rPr>
              <a:t>Most of the columns have ~541,000 entries but the </a:t>
            </a:r>
            <a:r>
              <a:rPr lang="en-GB" sz="1100" dirty="0" err="1">
                <a:effectLst/>
                <a:latin typeface="Calibri" panose="020F0502020204030204" pitchFamily="34" charset="0"/>
                <a:ea typeface="Calibri" panose="020F0502020204030204" pitchFamily="34" charset="0"/>
                <a:cs typeface="Times New Roman" panose="02020603050405020304" pitchFamily="18" charset="0"/>
              </a:rPr>
              <a:t>CustomerID</a:t>
            </a:r>
            <a:r>
              <a:rPr lang="en-GB" sz="1100" dirty="0">
                <a:effectLst/>
                <a:latin typeface="Calibri" panose="020F0502020204030204" pitchFamily="34" charset="0"/>
                <a:ea typeface="Calibri" panose="020F0502020204030204" pitchFamily="34" charset="0"/>
                <a:cs typeface="Times New Roman" panose="02020603050405020304" pitchFamily="18" charset="0"/>
              </a:rPr>
              <a:t> column has ~406,000 entries. This means that ~25% of the </a:t>
            </a:r>
            <a:r>
              <a:rPr lang="en-GB" sz="1100" dirty="0" err="1">
                <a:effectLst/>
                <a:latin typeface="Calibri" panose="020F0502020204030204" pitchFamily="34" charset="0"/>
                <a:ea typeface="Calibri" panose="020F0502020204030204" pitchFamily="34" charset="0"/>
                <a:cs typeface="Times New Roman" panose="02020603050405020304" pitchFamily="18" charset="0"/>
              </a:rPr>
              <a:t>CustomerIDs</a:t>
            </a:r>
            <a:r>
              <a:rPr lang="en-GB" sz="1100" dirty="0">
                <a:effectLst/>
                <a:latin typeface="Calibri" panose="020F0502020204030204" pitchFamily="34" charset="0"/>
                <a:ea typeface="Calibri" panose="020F0502020204030204" pitchFamily="34" charset="0"/>
                <a:cs typeface="Times New Roman" panose="02020603050405020304" pitchFamily="18" charset="0"/>
              </a:rPr>
              <a:t> are empty. </a:t>
            </a:r>
          </a:p>
          <a:p>
            <a:pPr marL="0" indent="0">
              <a:lnSpc>
                <a:spcPct val="107000"/>
              </a:lnSpc>
              <a:spcAft>
                <a:spcPts val="800"/>
              </a:spcAft>
              <a:buNone/>
            </a:pPr>
            <a:r>
              <a:rPr lang="en-GB" sz="1100" dirty="0">
                <a:effectLst/>
                <a:latin typeface="Calibri" panose="020F0502020204030204" pitchFamily="34" charset="0"/>
                <a:ea typeface="Calibri" panose="020F0502020204030204" pitchFamily="34" charset="0"/>
                <a:cs typeface="Times New Roman" panose="02020603050405020304" pitchFamily="18" charset="0"/>
              </a:rPr>
              <a:t>We will take two approaches. The first one is PRODUCT-focused and the second is CUSTOMER-focused. </a:t>
            </a:r>
          </a:p>
          <a:p>
            <a:pPr marL="873252" lvl="1" indent="-342900">
              <a:lnSpc>
                <a:spcPct val="107000"/>
              </a:lnSpc>
              <a:buFont typeface="+mj-lt"/>
              <a:buAutoNum type="arabicParenR"/>
            </a:pPr>
            <a:r>
              <a:rPr lang="en-GB" sz="1100" b="1" dirty="0">
                <a:effectLst/>
                <a:latin typeface="Calibri" panose="020F0502020204030204" pitchFamily="34" charset="0"/>
                <a:ea typeface="Calibri" panose="020F0502020204030204" pitchFamily="34" charset="0"/>
                <a:cs typeface="Times New Roman" panose="02020603050405020304" pitchFamily="18" charset="0"/>
              </a:rPr>
              <a:t>Product focused analysis -</a:t>
            </a:r>
            <a:r>
              <a:rPr lang="en-GB" sz="1100" dirty="0">
                <a:effectLst/>
                <a:latin typeface="Calibri" panose="020F0502020204030204" pitchFamily="34" charset="0"/>
                <a:ea typeface="Calibri" panose="020F0502020204030204" pitchFamily="34" charset="0"/>
                <a:cs typeface="Times New Roman" panose="02020603050405020304" pitchFamily="18" charset="0"/>
              </a:rPr>
              <a:t> we can keep the empty </a:t>
            </a:r>
            <a:r>
              <a:rPr lang="en-GB" sz="1100" dirty="0" err="1">
                <a:effectLst/>
                <a:latin typeface="Calibri" panose="020F0502020204030204" pitchFamily="34" charset="0"/>
                <a:ea typeface="Calibri" panose="020F0502020204030204" pitchFamily="34" charset="0"/>
                <a:cs typeface="Times New Roman" panose="02020603050405020304" pitchFamily="18" charset="0"/>
              </a:rPr>
              <a:t>CustomerID</a:t>
            </a:r>
            <a:r>
              <a:rPr lang="en-GB" sz="1100" dirty="0">
                <a:effectLst/>
                <a:latin typeface="Calibri" panose="020F0502020204030204" pitchFamily="34" charset="0"/>
                <a:ea typeface="Calibri" panose="020F0502020204030204" pitchFamily="34" charset="0"/>
                <a:cs typeface="Times New Roman" panose="02020603050405020304" pitchFamily="18" charset="0"/>
              </a:rPr>
              <a:t> cells and clean the data by removing invoices with 0 products or other irregularities arising from the </a:t>
            </a:r>
            <a:r>
              <a:rPr lang="en-GB" sz="1100" dirty="0" err="1">
                <a:effectLst/>
                <a:latin typeface="Calibri" panose="020F0502020204030204" pitchFamily="34" charset="0"/>
                <a:ea typeface="Calibri" panose="020F0502020204030204" pitchFamily="34" charset="0"/>
                <a:cs typeface="Times New Roman" panose="02020603050405020304" pitchFamily="18" charset="0"/>
              </a:rPr>
              <a:t>InvoiceNo</a:t>
            </a:r>
            <a:r>
              <a:rPr lang="en-GB" sz="1100" dirty="0">
                <a:effectLst/>
                <a:latin typeface="Calibri" panose="020F0502020204030204" pitchFamily="34" charset="0"/>
                <a:ea typeface="Calibri" panose="020F0502020204030204" pitchFamily="34" charset="0"/>
                <a:cs typeface="Times New Roman" panose="02020603050405020304" pitchFamily="18" charset="0"/>
              </a:rPr>
              <a:t> and Description columns. This will give more accurate information and analytics for your </a:t>
            </a:r>
            <a:r>
              <a:rPr lang="en-GB" sz="1100" b="1" dirty="0">
                <a:effectLst/>
                <a:latin typeface="Calibri" panose="020F0502020204030204" pitchFamily="34" charset="0"/>
                <a:ea typeface="Calibri" panose="020F0502020204030204" pitchFamily="34" charset="0"/>
                <a:cs typeface="Times New Roman" panose="02020603050405020304" pitchFamily="18" charset="0"/>
              </a:rPr>
              <a:t>products, volume of sales and trends</a:t>
            </a:r>
            <a:r>
              <a:rPr lang="bg-BG" sz="1100" b="1" dirty="0">
                <a:effectLst/>
                <a:latin typeface="Calibri" panose="020F0502020204030204" pitchFamily="34" charset="0"/>
                <a:ea typeface="Calibri" panose="020F0502020204030204" pitchFamily="34" charset="0"/>
                <a:cs typeface="Times New Roman" panose="02020603050405020304" pitchFamily="18" charset="0"/>
              </a:rPr>
              <a:t>, </a:t>
            </a:r>
            <a:r>
              <a:rPr lang="en-GB" sz="1100" dirty="0">
                <a:effectLst/>
                <a:latin typeface="Calibri" panose="020F0502020204030204" pitchFamily="34" charset="0"/>
                <a:ea typeface="Calibri" panose="020F0502020204030204" pitchFamily="34" charset="0"/>
                <a:cs typeface="Times New Roman" panose="02020603050405020304" pitchFamily="18" charset="0"/>
              </a:rPr>
              <a:t>but you will not be able to derive conclusions for specific customers</a:t>
            </a:r>
          </a:p>
          <a:p>
            <a:pPr marL="873252" lvl="1" indent="-342900">
              <a:lnSpc>
                <a:spcPct val="107000"/>
              </a:lnSpc>
              <a:buFont typeface="+mj-lt"/>
              <a:buAutoNum type="arabicParenR"/>
            </a:pPr>
            <a:r>
              <a:rPr lang="en-GB" sz="1100" b="1" dirty="0">
                <a:effectLst/>
                <a:latin typeface="Calibri" panose="020F0502020204030204" pitchFamily="34" charset="0"/>
                <a:ea typeface="Calibri" panose="020F0502020204030204" pitchFamily="34" charset="0"/>
                <a:cs typeface="Times New Roman" panose="02020603050405020304" pitchFamily="18" charset="0"/>
              </a:rPr>
              <a:t>Customer focused analysis </a:t>
            </a:r>
            <a:r>
              <a:rPr lang="en-GB" sz="1100" dirty="0">
                <a:effectLst/>
                <a:latin typeface="Calibri" panose="020F0502020204030204" pitchFamily="34" charset="0"/>
                <a:ea typeface="Calibri" panose="020F0502020204030204" pitchFamily="34" charset="0"/>
                <a:cs typeface="Times New Roman" panose="02020603050405020304" pitchFamily="18" charset="0"/>
              </a:rPr>
              <a:t>- we will remove all empty cells (and rows) from the </a:t>
            </a:r>
            <a:r>
              <a:rPr lang="en-GB" sz="1100" dirty="0" err="1">
                <a:effectLst/>
                <a:latin typeface="Calibri" panose="020F0502020204030204" pitchFamily="34" charset="0"/>
                <a:ea typeface="Calibri" panose="020F0502020204030204" pitchFamily="34" charset="0"/>
                <a:cs typeface="Times New Roman" panose="02020603050405020304" pitchFamily="18" charset="0"/>
              </a:rPr>
              <a:t>CustomerIDs</a:t>
            </a:r>
            <a:r>
              <a:rPr lang="en-GB" sz="1100" dirty="0">
                <a:effectLst/>
                <a:latin typeface="Calibri" panose="020F0502020204030204" pitchFamily="34" charset="0"/>
                <a:ea typeface="Calibri" panose="020F0502020204030204" pitchFamily="34" charset="0"/>
                <a:cs typeface="Times New Roman" panose="02020603050405020304" pitchFamily="18" charset="0"/>
              </a:rPr>
              <a:t> column. This is a must if you are going to perform machine learning classification or regression models and if you intend to visualise your data grouped by </a:t>
            </a:r>
            <a:r>
              <a:rPr lang="en-GB" sz="1100" dirty="0" err="1">
                <a:effectLst/>
                <a:latin typeface="Calibri" panose="020F0502020204030204" pitchFamily="34" charset="0"/>
                <a:ea typeface="Calibri" panose="020F0502020204030204" pitchFamily="34" charset="0"/>
                <a:cs typeface="Times New Roman" panose="02020603050405020304" pitchFamily="18" charset="0"/>
              </a:rPr>
              <a:t>CustomerID</a:t>
            </a:r>
            <a:br>
              <a:rPr lang="en-GB" sz="1100" dirty="0">
                <a:effectLst/>
                <a:latin typeface="Calibri" panose="020F0502020204030204" pitchFamily="34" charset="0"/>
                <a:ea typeface="Calibri" panose="020F0502020204030204" pitchFamily="34" charset="0"/>
                <a:cs typeface="Times New Roman" panose="02020603050405020304" pitchFamily="18" charset="0"/>
              </a:rPr>
            </a:b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GB" sz="1100" dirty="0">
                <a:effectLst/>
                <a:latin typeface="Calibri" panose="020F0502020204030204" pitchFamily="34" charset="0"/>
                <a:ea typeface="Calibri" panose="020F0502020204030204" pitchFamily="34" charset="0"/>
                <a:cs typeface="Times New Roman" panose="02020603050405020304" pitchFamily="18" charset="0"/>
              </a:rPr>
              <a:t>The next step is to </a:t>
            </a:r>
            <a:r>
              <a:rPr lang="en-GB" sz="1100" dirty="0">
                <a:latin typeface="Calibri" panose="020F0502020204030204" pitchFamily="34" charset="0"/>
                <a:ea typeface="Calibri" panose="020F0502020204030204" pitchFamily="34" charset="0"/>
                <a:cs typeface="Times New Roman" panose="02020603050405020304" pitchFamily="18" charset="0"/>
              </a:rPr>
              <a:t>inspect</a:t>
            </a:r>
            <a:r>
              <a:rPr lang="en-GB" sz="1100" dirty="0">
                <a:effectLst/>
                <a:latin typeface="Calibri" panose="020F0502020204030204" pitchFamily="34" charset="0"/>
                <a:ea typeface="Calibri" panose="020F0502020204030204" pitchFamily="34" charset="0"/>
                <a:cs typeface="Times New Roman" panose="02020603050405020304" pitchFamily="18" charset="0"/>
              </a:rPr>
              <a:t> the </a:t>
            </a:r>
            <a:r>
              <a:rPr lang="en-GB" sz="1100" dirty="0" err="1">
                <a:effectLst/>
                <a:latin typeface="Calibri" panose="020F0502020204030204" pitchFamily="34" charset="0"/>
                <a:ea typeface="Calibri" panose="020F0502020204030204" pitchFamily="34" charset="0"/>
                <a:cs typeface="Times New Roman" panose="02020603050405020304" pitchFamily="18" charset="0"/>
              </a:rPr>
              <a:t>StockCode</a:t>
            </a:r>
            <a:r>
              <a:rPr lang="en-GB" sz="1100" dirty="0">
                <a:effectLst/>
                <a:latin typeface="Calibri" panose="020F0502020204030204" pitchFamily="34" charset="0"/>
                <a:ea typeface="Calibri" panose="020F0502020204030204" pitchFamily="34" charset="0"/>
                <a:cs typeface="Times New Roman" panose="02020603050405020304" pitchFamily="18" charset="0"/>
              </a:rPr>
              <a:t> and Quantity columns and find outliers and irregularities. As you’d notice in the python code, I removed a few </a:t>
            </a:r>
            <a:r>
              <a:rPr lang="en-GB" sz="1100" dirty="0" err="1">
                <a:effectLst/>
                <a:latin typeface="Calibri" panose="020F0502020204030204" pitchFamily="34" charset="0"/>
                <a:ea typeface="Calibri" panose="020F0502020204030204" pitchFamily="34" charset="0"/>
                <a:cs typeface="Times New Roman" panose="02020603050405020304" pitchFamily="18" charset="0"/>
              </a:rPr>
              <a:t>StockCode</a:t>
            </a:r>
            <a:r>
              <a:rPr lang="en-GB" sz="1100" dirty="0">
                <a:effectLst/>
                <a:latin typeface="Calibri" panose="020F0502020204030204" pitchFamily="34" charset="0"/>
                <a:ea typeface="Calibri" panose="020F0502020204030204" pitchFamily="34" charset="0"/>
                <a:cs typeface="Times New Roman" panose="02020603050405020304" pitchFamily="18" charset="0"/>
              </a:rPr>
              <a:t> names which are clearly not related to product sales and few rows from Quantity where the values are clearly out of the standard deviation. I also checked the Descriptions column for missing values and removed those as well. Also dropped the duplicates. </a:t>
            </a:r>
          </a:p>
          <a:p>
            <a:pPr marL="0" indent="0">
              <a:lnSpc>
                <a:spcPct val="107000"/>
              </a:lnSpc>
              <a:spcAft>
                <a:spcPts val="800"/>
              </a:spcAft>
              <a:buNone/>
            </a:pPr>
            <a:r>
              <a:rPr lang="en-GB" sz="1100" dirty="0">
                <a:effectLst/>
                <a:latin typeface="Calibri" panose="020F0502020204030204" pitchFamily="34" charset="0"/>
                <a:ea typeface="Calibri" panose="020F0502020204030204" pitchFamily="34" charset="0"/>
                <a:cs typeface="Times New Roman" panose="02020603050405020304" pitchFamily="18" charset="0"/>
              </a:rPr>
              <a:t>The last step of the pre-processing work is to save two sub-datasets –</a:t>
            </a:r>
          </a:p>
          <a:p>
            <a:pPr marL="873252" lvl="1" indent="-342900">
              <a:lnSpc>
                <a:spcPct val="107000"/>
              </a:lnSpc>
              <a:buFont typeface="Symbol" panose="05050102010706020507" pitchFamily="18" charset="2"/>
              <a:buChar char=""/>
            </a:pPr>
            <a:r>
              <a:rPr lang="en-GB" sz="1100" b="1" dirty="0" err="1">
                <a:effectLst/>
                <a:latin typeface="Calibri" panose="020F0502020204030204" pitchFamily="34" charset="0"/>
                <a:ea typeface="Calibri" panose="020F0502020204030204" pitchFamily="34" charset="0"/>
                <a:cs typeface="Times New Roman" panose="02020603050405020304" pitchFamily="18" charset="0"/>
              </a:rPr>
              <a:t>products_dataset</a:t>
            </a:r>
            <a:r>
              <a:rPr lang="en-GB" sz="1100" dirty="0">
                <a:effectLst/>
                <a:latin typeface="Calibri" panose="020F0502020204030204" pitchFamily="34" charset="0"/>
                <a:ea typeface="Calibri" panose="020F0502020204030204" pitchFamily="34" charset="0"/>
                <a:cs typeface="Times New Roman" panose="02020603050405020304" pitchFamily="18" charset="0"/>
              </a:rPr>
              <a:t> for the Products-focused analysis</a:t>
            </a:r>
          </a:p>
          <a:p>
            <a:pPr marL="873252" lvl="1" indent="-342900">
              <a:lnSpc>
                <a:spcPct val="107000"/>
              </a:lnSpc>
              <a:spcAft>
                <a:spcPts val="800"/>
              </a:spcAft>
              <a:buFont typeface="Symbol" panose="05050102010706020507" pitchFamily="18" charset="2"/>
              <a:buChar char=""/>
            </a:pPr>
            <a:r>
              <a:rPr lang="en-GB" sz="1100" b="1" dirty="0" err="1">
                <a:effectLst/>
                <a:latin typeface="Calibri" panose="020F0502020204030204" pitchFamily="34" charset="0"/>
                <a:ea typeface="Calibri" panose="020F0502020204030204" pitchFamily="34" charset="0"/>
                <a:cs typeface="Times New Roman" panose="02020603050405020304" pitchFamily="18" charset="0"/>
              </a:rPr>
              <a:t>customers_dataset</a:t>
            </a:r>
            <a:r>
              <a:rPr lang="en-GB" sz="1100" dirty="0">
                <a:effectLst/>
                <a:latin typeface="Calibri" panose="020F0502020204030204" pitchFamily="34" charset="0"/>
                <a:ea typeface="Calibri" panose="020F0502020204030204" pitchFamily="34" charset="0"/>
                <a:cs typeface="Times New Roman" panose="02020603050405020304" pitchFamily="18" charset="0"/>
              </a:rPr>
              <a:t> for the Customers-focused analysis and future machine learning models</a:t>
            </a:r>
            <a:endParaRPr lang="en-GB" sz="1100" dirty="0"/>
          </a:p>
        </p:txBody>
      </p:sp>
      <p:sp>
        <p:nvSpPr>
          <p:cNvPr id="4" name="Title 1">
            <a:extLst>
              <a:ext uri="{FF2B5EF4-FFF2-40B4-BE49-F238E27FC236}">
                <a16:creationId xmlns:a16="http://schemas.microsoft.com/office/drawing/2014/main" id="{ED6F1CF7-3BAE-41C2-9EBA-FA6EC467A507}"/>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2</a:t>
            </a:r>
          </a:p>
        </p:txBody>
      </p:sp>
      <p:sp>
        <p:nvSpPr>
          <p:cNvPr id="5" name="Date Placeholder 4">
            <a:extLst>
              <a:ext uri="{FF2B5EF4-FFF2-40B4-BE49-F238E27FC236}">
                <a16:creationId xmlns:a16="http://schemas.microsoft.com/office/drawing/2014/main" id="{E6A306E1-337D-45FD-B413-C067C0C6E3E9}"/>
              </a:ext>
            </a:extLst>
          </p:cNvPr>
          <p:cNvSpPr>
            <a:spLocks noGrp="1"/>
          </p:cNvSpPr>
          <p:nvPr>
            <p:ph type="dt" sz="half" idx="10"/>
          </p:nvPr>
        </p:nvSpPr>
        <p:spPr/>
        <p:txBody>
          <a:bodyPr/>
          <a:lstStyle/>
          <a:p>
            <a:fld id="{3B2F6300-B619-44AF-9D7D-2D11B3F700A4}" type="datetime1">
              <a:rPr lang="en-US" smtClean="0"/>
              <a:t>7/29/2020</a:t>
            </a:fld>
            <a:endParaRPr lang="en-US" dirty="0"/>
          </a:p>
        </p:txBody>
      </p:sp>
      <p:sp>
        <p:nvSpPr>
          <p:cNvPr id="6" name="Footer Placeholder 5">
            <a:extLst>
              <a:ext uri="{FF2B5EF4-FFF2-40B4-BE49-F238E27FC236}">
                <a16:creationId xmlns:a16="http://schemas.microsoft.com/office/drawing/2014/main" id="{D11410D7-396B-4935-A19D-E4FBB9DF92F3}"/>
              </a:ext>
            </a:extLst>
          </p:cNvPr>
          <p:cNvSpPr>
            <a:spLocks noGrp="1"/>
          </p:cNvSpPr>
          <p:nvPr>
            <p:ph type="ftr" sz="quarter" idx="11"/>
          </p:nvPr>
        </p:nvSpPr>
        <p:spPr/>
        <p:txBody>
          <a:bodyPr/>
          <a:lstStyle/>
          <a:p>
            <a:r>
              <a:rPr lang="en-US"/>
              <a:t>Dr Dimitar Dimov - Data Analyst Candidate at LOR</a:t>
            </a:r>
            <a:endParaRPr lang="en-US" dirty="0"/>
          </a:p>
        </p:txBody>
      </p:sp>
      <p:sp>
        <p:nvSpPr>
          <p:cNvPr id="7" name="Slide Number Placeholder 6">
            <a:extLst>
              <a:ext uri="{FF2B5EF4-FFF2-40B4-BE49-F238E27FC236}">
                <a16:creationId xmlns:a16="http://schemas.microsoft.com/office/drawing/2014/main" id="{C9DE3AB8-BDAE-4C47-8ACD-C3D88F164C58}"/>
              </a:ext>
            </a:extLst>
          </p:cNvPr>
          <p:cNvSpPr>
            <a:spLocks noGrp="1"/>
          </p:cNvSpPr>
          <p:nvPr>
            <p:ph type="sldNum" sz="quarter" idx="12"/>
          </p:nvPr>
        </p:nvSpPr>
        <p:spPr/>
        <p:txBody>
          <a:bodyPr/>
          <a:lstStyle/>
          <a:p>
            <a:fld id="{69E57DC2-970A-4B3E-BB1C-7A09969E49DF}" type="slidenum">
              <a:rPr lang="en-US" smtClean="0"/>
              <a:t>3</a:t>
            </a:fld>
            <a:endParaRPr lang="en-US" dirty="0"/>
          </a:p>
        </p:txBody>
      </p:sp>
    </p:spTree>
    <p:extLst>
      <p:ext uri="{BB962C8B-B14F-4D97-AF65-F5344CB8AC3E}">
        <p14:creationId xmlns:p14="http://schemas.microsoft.com/office/powerpoint/2010/main" val="2653489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6C7B64-B6DB-4BAF-932D-B5E3292F0E3E}"/>
              </a:ext>
            </a:extLst>
          </p:cNvPr>
          <p:cNvSpPr>
            <a:spLocks noGrp="1"/>
          </p:cNvSpPr>
          <p:nvPr>
            <p:ph idx="1"/>
          </p:nvPr>
        </p:nvSpPr>
        <p:spPr>
          <a:xfrm>
            <a:off x="1390650" y="1476940"/>
            <a:ext cx="9601200" cy="3904119"/>
          </a:xfrm>
        </p:spPr>
        <p:txBody>
          <a:bodyPr/>
          <a:lstStyle/>
          <a:p>
            <a:pPr marL="0" indent="0">
              <a:lnSpc>
                <a:spcPct val="107000"/>
              </a:lnSpc>
              <a:spcAft>
                <a:spcPts val="80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After all pre-processing and cleaning outliers / irregularities, I have added a new column – </a:t>
            </a:r>
            <a:r>
              <a:rPr lang="en-GB" sz="1800" dirty="0" err="1">
                <a:effectLst/>
                <a:latin typeface="Calibri" panose="020F0502020204030204" pitchFamily="34" charset="0"/>
                <a:ea typeface="Calibri" panose="020F0502020204030204" pitchFamily="34" charset="0"/>
                <a:cs typeface="Calibri" panose="020F0502020204030204" pitchFamily="34" charset="0"/>
              </a:rPr>
              <a:t>TotalSales</a:t>
            </a:r>
            <a:r>
              <a:rPr lang="en-GB" sz="1800" dirty="0">
                <a:effectLst/>
                <a:latin typeface="Calibri" panose="020F0502020204030204" pitchFamily="34" charset="0"/>
                <a:ea typeface="Calibri" panose="020F0502020204030204" pitchFamily="34" charset="0"/>
                <a:cs typeface="Calibri" panose="020F0502020204030204" pitchFamily="34" charset="0"/>
              </a:rPr>
              <a:t> – which is simply the number of items sold multiplied by their unit price. I have exported two separate databases as xlsx for visualisations in Tableau. </a:t>
            </a:r>
          </a:p>
          <a:p>
            <a:pPr marL="0" indent="0">
              <a:lnSpc>
                <a:spcPct val="107000"/>
              </a:lnSpc>
              <a:spcAft>
                <a:spcPts val="80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I have also written a python code to calculate the following: </a:t>
            </a:r>
          </a:p>
          <a:p>
            <a:pPr marL="873252" lvl="1" indent="-342900">
              <a:lnSpc>
                <a:spcPct val="107000"/>
              </a:lnSpc>
              <a:buFont typeface="+mj-lt"/>
              <a:buAutoNum type="arabicPeriod"/>
            </a:pPr>
            <a:r>
              <a:rPr lang="en-GB" sz="1800" dirty="0">
                <a:effectLst/>
                <a:latin typeface="Calibri" panose="020F0502020204030204" pitchFamily="34" charset="0"/>
                <a:ea typeface="Calibri" panose="020F0502020204030204" pitchFamily="34" charset="0"/>
                <a:cs typeface="Calibri" panose="020F0502020204030204" pitchFamily="34" charset="0"/>
              </a:rPr>
              <a:t>Recency – a measure of how recent one purchase is, benchmarked against the very first transaction recorded on the database</a:t>
            </a:r>
          </a:p>
          <a:p>
            <a:pPr marL="873252" lvl="1" indent="-342900">
              <a:lnSpc>
                <a:spcPct val="107000"/>
              </a:lnSpc>
              <a:buFont typeface="+mj-lt"/>
              <a:buAutoNum type="arabicPeriod"/>
            </a:pPr>
            <a:r>
              <a:rPr lang="en-GB" sz="1800" dirty="0">
                <a:effectLst/>
                <a:latin typeface="Calibri" panose="020F0502020204030204" pitchFamily="34" charset="0"/>
                <a:ea typeface="Calibri" panose="020F0502020204030204" pitchFamily="34" charset="0"/>
                <a:cs typeface="Calibri" panose="020F0502020204030204" pitchFamily="34" charset="0"/>
              </a:rPr>
              <a:t>Frequency – a measure of how many times has each customer purchased stock </a:t>
            </a:r>
          </a:p>
          <a:p>
            <a:pPr marL="873252" lvl="1" indent="-342900">
              <a:lnSpc>
                <a:spcPct val="107000"/>
              </a:lnSpc>
              <a:spcAft>
                <a:spcPts val="800"/>
              </a:spcAft>
              <a:buFont typeface="+mj-lt"/>
              <a:buAutoNum type="arabicPeriod"/>
            </a:pPr>
            <a:r>
              <a:rPr lang="en-GB" sz="1800" dirty="0">
                <a:effectLst/>
                <a:latin typeface="Calibri" panose="020F0502020204030204" pitchFamily="34" charset="0"/>
                <a:ea typeface="Calibri" panose="020F0502020204030204" pitchFamily="34" charset="0"/>
                <a:cs typeface="Calibri" panose="020F0502020204030204" pitchFamily="34" charset="0"/>
              </a:rPr>
              <a:t>Monetary Value – a measure of how much has each customer spent in total over the recorded timeframe </a:t>
            </a:r>
          </a:p>
          <a:p>
            <a:pPr marL="0" indent="0">
              <a:buNone/>
            </a:pPr>
            <a:r>
              <a:rPr lang="en-GB" sz="1800" dirty="0">
                <a:latin typeface="Calibri" panose="020F0502020204030204" pitchFamily="34" charset="0"/>
                <a:cs typeface="Calibri" panose="020F0502020204030204" pitchFamily="34" charset="0"/>
              </a:rPr>
              <a:t>Which are part of the commonly used RFM analysis and give customer-focused insights. </a:t>
            </a:r>
          </a:p>
        </p:txBody>
      </p:sp>
      <p:sp>
        <p:nvSpPr>
          <p:cNvPr id="5" name="Title 1">
            <a:extLst>
              <a:ext uri="{FF2B5EF4-FFF2-40B4-BE49-F238E27FC236}">
                <a16:creationId xmlns:a16="http://schemas.microsoft.com/office/drawing/2014/main" id="{D7206C42-E857-49DA-BE89-2394FE278603}"/>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3</a:t>
            </a:r>
          </a:p>
        </p:txBody>
      </p:sp>
      <p:sp>
        <p:nvSpPr>
          <p:cNvPr id="6" name="Date Placeholder 5">
            <a:extLst>
              <a:ext uri="{FF2B5EF4-FFF2-40B4-BE49-F238E27FC236}">
                <a16:creationId xmlns:a16="http://schemas.microsoft.com/office/drawing/2014/main" id="{28C54DAA-5035-4890-B960-E83DE62BAC1F}"/>
              </a:ext>
            </a:extLst>
          </p:cNvPr>
          <p:cNvSpPr>
            <a:spLocks noGrp="1"/>
          </p:cNvSpPr>
          <p:nvPr>
            <p:ph type="dt" sz="half" idx="10"/>
          </p:nvPr>
        </p:nvSpPr>
        <p:spPr/>
        <p:txBody>
          <a:bodyPr/>
          <a:lstStyle/>
          <a:p>
            <a:fld id="{3E984064-7063-4787-AF9C-323415326A05}" type="datetime1">
              <a:rPr lang="en-US" smtClean="0"/>
              <a:t>7/29/2020</a:t>
            </a:fld>
            <a:endParaRPr lang="en-US" dirty="0"/>
          </a:p>
        </p:txBody>
      </p:sp>
      <p:sp>
        <p:nvSpPr>
          <p:cNvPr id="7" name="Footer Placeholder 6">
            <a:extLst>
              <a:ext uri="{FF2B5EF4-FFF2-40B4-BE49-F238E27FC236}">
                <a16:creationId xmlns:a16="http://schemas.microsoft.com/office/drawing/2014/main" id="{DE6AE7E5-3E24-411C-A94F-10580867A51B}"/>
              </a:ext>
            </a:extLst>
          </p:cNvPr>
          <p:cNvSpPr>
            <a:spLocks noGrp="1"/>
          </p:cNvSpPr>
          <p:nvPr>
            <p:ph type="ftr" sz="quarter" idx="11"/>
          </p:nvPr>
        </p:nvSpPr>
        <p:spPr/>
        <p:txBody>
          <a:bodyPr/>
          <a:lstStyle/>
          <a:p>
            <a:r>
              <a:rPr lang="en-US"/>
              <a:t>Dr Dimitar Dimov - Data Analyst Candidate at LOR</a:t>
            </a:r>
            <a:endParaRPr lang="en-US" dirty="0"/>
          </a:p>
        </p:txBody>
      </p:sp>
      <p:sp>
        <p:nvSpPr>
          <p:cNvPr id="8" name="Slide Number Placeholder 7">
            <a:extLst>
              <a:ext uri="{FF2B5EF4-FFF2-40B4-BE49-F238E27FC236}">
                <a16:creationId xmlns:a16="http://schemas.microsoft.com/office/drawing/2014/main" id="{3AF8DC6C-5932-47CC-AF63-5BAEDE1E9F0E}"/>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481317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F97D45-DD2F-486B-A633-AD1A52B58C46}"/>
              </a:ext>
            </a:extLst>
          </p:cNvPr>
          <p:cNvSpPr>
            <a:spLocks noGrp="1"/>
          </p:cNvSpPr>
          <p:nvPr>
            <p:ph idx="1"/>
          </p:nvPr>
        </p:nvSpPr>
        <p:spPr>
          <a:xfrm>
            <a:off x="1467828" y="2093402"/>
            <a:ext cx="9601200" cy="2898047"/>
          </a:xfrm>
        </p:spPr>
        <p:txBody>
          <a:bodyPr>
            <a:normAutofit/>
          </a:bodyPr>
          <a:lstStyle/>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Let’s start by visualising basic business information – top 10 selling products, total weekly sales with an average value per week, a pie chart with total sales breakdown on a monthly basis, and total sales per country.</a:t>
            </a:r>
          </a:p>
          <a:p>
            <a:pPr marL="0" indent="0">
              <a:lnSpc>
                <a:spcPct val="107000"/>
              </a:lnSpc>
              <a:spcAft>
                <a:spcPts val="800"/>
              </a:spcAft>
              <a:buNone/>
            </a:pPr>
            <a:r>
              <a:rPr lang="en-GB" sz="1400" dirty="0">
                <a:latin typeface="Calibri" panose="020F0502020204030204" pitchFamily="34" charset="0"/>
                <a:ea typeface="Calibri" panose="020F0502020204030204" pitchFamily="34" charset="0"/>
                <a:cs typeface="Times New Roman" panose="02020603050405020304" pitchFamily="18" charset="0"/>
              </a:rPr>
              <a:t>These visualisations </a:t>
            </a:r>
            <a:r>
              <a:rPr lang="en-GB" sz="1400" dirty="0">
                <a:effectLst/>
                <a:latin typeface="Calibri" panose="020F0502020204030204" pitchFamily="34" charset="0"/>
                <a:ea typeface="Calibri" panose="020F0502020204030204" pitchFamily="34" charset="0"/>
                <a:cs typeface="Times New Roman" panose="02020603050405020304" pitchFamily="18" charset="0"/>
              </a:rPr>
              <a:t>will come from the </a:t>
            </a:r>
            <a:r>
              <a:rPr lang="en-GB" sz="1400" i="1" dirty="0" err="1">
                <a:effectLst/>
                <a:latin typeface="Calibri" panose="020F0502020204030204" pitchFamily="34" charset="0"/>
                <a:ea typeface="Calibri" panose="020F0502020204030204" pitchFamily="34" charset="0"/>
                <a:cs typeface="Times New Roman" panose="02020603050405020304" pitchFamily="18" charset="0"/>
              </a:rPr>
              <a:t>products_database</a:t>
            </a:r>
            <a:r>
              <a:rPr lang="en-GB" sz="1400" i="1" dirty="0">
                <a:latin typeface="Calibri" panose="020F0502020204030204" pitchFamily="34" charset="0"/>
                <a:ea typeface="Calibri" panose="020F0502020204030204" pitchFamily="34" charset="0"/>
                <a:cs typeface="Times New Roman" panose="02020603050405020304" pitchFamily="18" charset="0"/>
              </a:rPr>
              <a:t> </a:t>
            </a:r>
            <a:r>
              <a:rPr lang="en-GB" sz="1400" dirty="0">
                <a:latin typeface="Calibri" panose="020F0502020204030204" pitchFamily="34" charset="0"/>
                <a:ea typeface="Calibri" panose="020F0502020204030204" pitchFamily="34" charset="0"/>
                <a:cs typeface="Times New Roman" panose="02020603050405020304" pitchFamily="18" charset="0"/>
              </a:rPr>
              <a:t>and are created in Tableau. They may be created in Python as well but I strongly believe that Tableau has multiple advantages over Python when it comes to visualisations. Especially around saving time from not having to write long code for the graphs and dashboards, creating new features on the go and updating the dashboards with multiple layers of variables.</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The second step is to create visualisations for the Customer-focused database with the corresponding dashboards. </a:t>
            </a:r>
            <a:endParaRPr lang="en-GB" sz="14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I will include a summary of all key findings in Question 5. </a:t>
            </a:r>
          </a:p>
        </p:txBody>
      </p:sp>
      <p:sp>
        <p:nvSpPr>
          <p:cNvPr id="5" name="Title 1">
            <a:extLst>
              <a:ext uri="{FF2B5EF4-FFF2-40B4-BE49-F238E27FC236}">
                <a16:creationId xmlns:a16="http://schemas.microsoft.com/office/drawing/2014/main" id="{6416F0D6-DF8C-483B-A67E-B26A085B90D8}"/>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4</a:t>
            </a:r>
          </a:p>
        </p:txBody>
      </p:sp>
      <p:sp>
        <p:nvSpPr>
          <p:cNvPr id="6" name="Date Placeholder 5">
            <a:extLst>
              <a:ext uri="{FF2B5EF4-FFF2-40B4-BE49-F238E27FC236}">
                <a16:creationId xmlns:a16="http://schemas.microsoft.com/office/drawing/2014/main" id="{CC1827B2-D326-4D7A-B885-1D9271B6329D}"/>
              </a:ext>
            </a:extLst>
          </p:cNvPr>
          <p:cNvSpPr>
            <a:spLocks noGrp="1"/>
          </p:cNvSpPr>
          <p:nvPr>
            <p:ph type="dt" sz="half" idx="10"/>
          </p:nvPr>
        </p:nvSpPr>
        <p:spPr/>
        <p:txBody>
          <a:bodyPr/>
          <a:lstStyle/>
          <a:p>
            <a:fld id="{B02BD66B-6345-4D7A-88A3-DB51A2C83720}" type="datetime1">
              <a:rPr lang="en-US" smtClean="0"/>
              <a:t>7/29/2020</a:t>
            </a:fld>
            <a:endParaRPr lang="en-US" dirty="0"/>
          </a:p>
        </p:txBody>
      </p:sp>
      <p:sp>
        <p:nvSpPr>
          <p:cNvPr id="7" name="Footer Placeholder 6">
            <a:extLst>
              <a:ext uri="{FF2B5EF4-FFF2-40B4-BE49-F238E27FC236}">
                <a16:creationId xmlns:a16="http://schemas.microsoft.com/office/drawing/2014/main" id="{4D7D4C02-855C-4EC0-A578-E797580D77EB}"/>
              </a:ext>
            </a:extLst>
          </p:cNvPr>
          <p:cNvSpPr>
            <a:spLocks noGrp="1"/>
          </p:cNvSpPr>
          <p:nvPr>
            <p:ph type="ftr" sz="quarter" idx="11"/>
          </p:nvPr>
        </p:nvSpPr>
        <p:spPr/>
        <p:txBody>
          <a:bodyPr/>
          <a:lstStyle/>
          <a:p>
            <a:r>
              <a:rPr lang="en-US"/>
              <a:t>Dr Dimitar Dimov - Data Analyst Candidate at LOR</a:t>
            </a:r>
            <a:endParaRPr lang="en-US" dirty="0"/>
          </a:p>
        </p:txBody>
      </p:sp>
      <p:sp>
        <p:nvSpPr>
          <p:cNvPr id="8" name="Slide Number Placeholder 7">
            <a:extLst>
              <a:ext uri="{FF2B5EF4-FFF2-40B4-BE49-F238E27FC236}">
                <a16:creationId xmlns:a16="http://schemas.microsoft.com/office/drawing/2014/main" id="{0C74B7A3-1BBE-419B-874C-CFDD3A504FF4}"/>
              </a:ext>
            </a:extLst>
          </p:cNvPr>
          <p:cNvSpPr>
            <a:spLocks noGrp="1"/>
          </p:cNvSpPr>
          <p:nvPr>
            <p:ph type="sldNum" sz="quarter" idx="12"/>
          </p:nvPr>
        </p:nvSpPr>
        <p:spPr/>
        <p:txBody>
          <a:bodyPr/>
          <a:lstStyle/>
          <a:p>
            <a:fld id="{69E57DC2-970A-4B3E-BB1C-7A09969E49DF}" type="slidenum">
              <a:rPr lang="en-US" smtClean="0"/>
              <a:t>5</a:t>
            </a:fld>
            <a:endParaRPr lang="en-US" dirty="0"/>
          </a:p>
        </p:txBody>
      </p:sp>
    </p:spTree>
    <p:extLst>
      <p:ext uri="{BB962C8B-B14F-4D97-AF65-F5344CB8AC3E}">
        <p14:creationId xmlns:p14="http://schemas.microsoft.com/office/powerpoint/2010/main" val="1822673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D1D465C-A033-454E-A4CF-66E79A269938}"/>
              </a:ext>
            </a:extLst>
          </p:cNvPr>
          <p:cNvSpPr>
            <a:spLocks noGrp="1"/>
          </p:cNvSpPr>
          <p:nvPr>
            <p:ph type="dt" sz="half" idx="10"/>
          </p:nvPr>
        </p:nvSpPr>
        <p:spPr/>
        <p:txBody>
          <a:bodyPr/>
          <a:lstStyle/>
          <a:p>
            <a:fld id="{0073CFDD-3A45-4901-ACC8-96A4CCAFB5D4}" type="datetime1">
              <a:rPr lang="en-US" smtClean="0"/>
              <a:t>7/29/2020</a:t>
            </a:fld>
            <a:endParaRPr lang="en-US" dirty="0"/>
          </a:p>
        </p:txBody>
      </p:sp>
      <p:sp>
        <p:nvSpPr>
          <p:cNvPr id="5" name="Footer Placeholder 4">
            <a:extLst>
              <a:ext uri="{FF2B5EF4-FFF2-40B4-BE49-F238E27FC236}">
                <a16:creationId xmlns:a16="http://schemas.microsoft.com/office/drawing/2014/main" id="{87AB7005-C6A8-4757-97DE-80BD09E3260A}"/>
              </a:ext>
            </a:extLst>
          </p:cNvPr>
          <p:cNvSpPr>
            <a:spLocks noGrp="1"/>
          </p:cNvSpPr>
          <p:nvPr>
            <p:ph type="ftr" sz="quarter" idx="11"/>
          </p:nvPr>
        </p:nvSpPr>
        <p:spPr/>
        <p:txBody>
          <a:bodyPr/>
          <a:lstStyle/>
          <a:p>
            <a:r>
              <a:rPr lang="en-US"/>
              <a:t>Dr Dimitar Dimov - Data Analyst Candidate at LOR</a:t>
            </a:r>
            <a:endParaRPr lang="en-US" dirty="0"/>
          </a:p>
        </p:txBody>
      </p:sp>
      <p:sp>
        <p:nvSpPr>
          <p:cNvPr id="6" name="Slide Number Placeholder 5">
            <a:extLst>
              <a:ext uri="{FF2B5EF4-FFF2-40B4-BE49-F238E27FC236}">
                <a16:creationId xmlns:a16="http://schemas.microsoft.com/office/drawing/2014/main" id="{D2E526B8-92B1-4DD1-A8DF-010ED94AB795}"/>
              </a:ext>
            </a:extLst>
          </p:cNvPr>
          <p:cNvSpPr>
            <a:spLocks noGrp="1"/>
          </p:cNvSpPr>
          <p:nvPr>
            <p:ph type="sldNum" sz="quarter" idx="12"/>
          </p:nvPr>
        </p:nvSpPr>
        <p:spPr/>
        <p:txBody>
          <a:bodyPr/>
          <a:lstStyle/>
          <a:p>
            <a:fld id="{69E57DC2-970A-4B3E-BB1C-7A09969E49DF}" type="slidenum">
              <a:rPr lang="en-US" smtClean="0"/>
              <a:t>6</a:t>
            </a:fld>
            <a:endParaRPr lang="en-US" dirty="0"/>
          </a:p>
        </p:txBody>
      </p:sp>
      <p:pic>
        <p:nvPicPr>
          <p:cNvPr id="14" name="Content Placeholder 13">
            <a:extLst>
              <a:ext uri="{FF2B5EF4-FFF2-40B4-BE49-F238E27FC236}">
                <a16:creationId xmlns:a16="http://schemas.microsoft.com/office/drawing/2014/main" id="{6D63B3B4-2977-46A7-9E4E-FC2D5E4DE847}"/>
              </a:ext>
            </a:extLst>
          </p:cNvPr>
          <p:cNvPicPr>
            <a:picLocks noGrp="1" noChangeAspect="1"/>
          </p:cNvPicPr>
          <p:nvPr>
            <p:ph idx="1"/>
          </p:nvPr>
        </p:nvPicPr>
        <p:blipFill>
          <a:blip r:embed="rId2"/>
          <a:stretch>
            <a:fillRect/>
          </a:stretch>
        </p:blipFill>
        <p:spPr>
          <a:xfrm>
            <a:off x="1360039" y="1524589"/>
            <a:ext cx="8143307" cy="4580610"/>
          </a:xfrm>
        </p:spPr>
      </p:pic>
      <p:sp>
        <p:nvSpPr>
          <p:cNvPr id="16" name="TextBox 15">
            <a:extLst>
              <a:ext uri="{FF2B5EF4-FFF2-40B4-BE49-F238E27FC236}">
                <a16:creationId xmlns:a16="http://schemas.microsoft.com/office/drawing/2014/main" id="{77ED1D25-0BEE-4592-8ADE-CCBACC2BB611}"/>
              </a:ext>
            </a:extLst>
          </p:cNvPr>
          <p:cNvSpPr txBox="1"/>
          <p:nvPr/>
        </p:nvSpPr>
        <p:spPr>
          <a:xfrm>
            <a:off x="9533956" y="654050"/>
            <a:ext cx="2658044" cy="6001643"/>
          </a:xfrm>
          <a:prstGeom prst="rect">
            <a:avLst/>
          </a:prstGeom>
          <a:noFill/>
        </p:spPr>
        <p:txBody>
          <a:bodyPr wrap="square" rtlCol="0">
            <a:spAutoFit/>
          </a:bodyPr>
          <a:lstStyle/>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Chart on the top shows the top 10 selling products – their total sales on the x axis and the total number of products sold against each bar</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It is interesting to note that the first product did not sell in large quantities but was expensive enough to generate large revenue – ideas how to further maximise and optimise this?</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Chart bottom left – weekly revenue – what caused the big fall in weeks 49 -52? Is it missing data or post-Christmas time?</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Consistent average sales from January through September – reoccurring clients, seasonal products or limited marketing budget?</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What caused the sudden increase from Week 43 onwards? </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Chart bottom right – clearly the UK is the country with the highest volume of sales, followed by other European Countries and EIRE</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How can the company increase sales outside the UK? Perhaps marketing ads in German and French language? </a:t>
            </a:r>
          </a:p>
        </p:txBody>
      </p:sp>
      <p:sp>
        <p:nvSpPr>
          <p:cNvPr id="2" name="Title 1">
            <a:extLst>
              <a:ext uri="{FF2B5EF4-FFF2-40B4-BE49-F238E27FC236}">
                <a16:creationId xmlns:a16="http://schemas.microsoft.com/office/drawing/2014/main" id="{F9731C97-B541-4C1D-94F4-C5233DC3B92A}"/>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4 – cont’d</a:t>
            </a:r>
          </a:p>
        </p:txBody>
      </p:sp>
    </p:spTree>
    <p:extLst>
      <p:ext uri="{BB962C8B-B14F-4D97-AF65-F5344CB8AC3E}">
        <p14:creationId xmlns:p14="http://schemas.microsoft.com/office/powerpoint/2010/main" val="3737278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D42F165-6111-459F-A298-5FB85F899BEE}"/>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4 – cont’d </a:t>
            </a:r>
          </a:p>
        </p:txBody>
      </p:sp>
      <p:sp>
        <p:nvSpPr>
          <p:cNvPr id="6" name="Date Placeholder 5">
            <a:extLst>
              <a:ext uri="{FF2B5EF4-FFF2-40B4-BE49-F238E27FC236}">
                <a16:creationId xmlns:a16="http://schemas.microsoft.com/office/drawing/2014/main" id="{19B9021B-B6A3-4FD4-81EC-842241BB871B}"/>
              </a:ext>
            </a:extLst>
          </p:cNvPr>
          <p:cNvSpPr>
            <a:spLocks noGrp="1"/>
          </p:cNvSpPr>
          <p:nvPr>
            <p:ph type="dt" sz="half" idx="10"/>
          </p:nvPr>
        </p:nvSpPr>
        <p:spPr/>
        <p:txBody>
          <a:bodyPr/>
          <a:lstStyle/>
          <a:p>
            <a:fld id="{FAFF4BA0-7E90-4FC9-8630-6F31E5D567A8}" type="datetime1">
              <a:rPr lang="en-US" smtClean="0"/>
              <a:t>7/29/2020</a:t>
            </a:fld>
            <a:endParaRPr lang="en-US" dirty="0"/>
          </a:p>
        </p:txBody>
      </p:sp>
      <p:sp>
        <p:nvSpPr>
          <p:cNvPr id="7" name="Footer Placeholder 6">
            <a:extLst>
              <a:ext uri="{FF2B5EF4-FFF2-40B4-BE49-F238E27FC236}">
                <a16:creationId xmlns:a16="http://schemas.microsoft.com/office/drawing/2014/main" id="{1DC6A708-15CB-4AD1-9538-527991D4BA39}"/>
              </a:ext>
            </a:extLst>
          </p:cNvPr>
          <p:cNvSpPr>
            <a:spLocks noGrp="1"/>
          </p:cNvSpPr>
          <p:nvPr>
            <p:ph type="ftr" sz="quarter" idx="11"/>
          </p:nvPr>
        </p:nvSpPr>
        <p:spPr/>
        <p:txBody>
          <a:bodyPr/>
          <a:lstStyle/>
          <a:p>
            <a:r>
              <a:rPr lang="en-US"/>
              <a:t>Dr Dimitar Dimov - Data Analyst Candidate at LOR</a:t>
            </a:r>
            <a:endParaRPr lang="en-US" dirty="0"/>
          </a:p>
        </p:txBody>
      </p:sp>
      <p:sp>
        <p:nvSpPr>
          <p:cNvPr id="8" name="Slide Number Placeholder 7">
            <a:extLst>
              <a:ext uri="{FF2B5EF4-FFF2-40B4-BE49-F238E27FC236}">
                <a16:creationId xmlns:a16="http://schemas.microsoft.com/office/drawing/2014/main" id="{DA2128BC-B827-44B3-A4F6-4B5C45C0C10B}"/>
              </a:ext>
            </a:extLst>
          </p:cNvPr>
          <p:cNvSpPr>
            <a:spLocks noGrp="1"/>
          </p:cNvSpPr>
          <p:nvPr>
            <p:ph type="sldNum" sz="quarter" idx="12"/>
          </p:nvPr>
        </p:nvSpPr>
        <p:spPr/>
        <p:txBody>
          <a:bodyPr/>
          <a:lstStyle/>
          <a:p>
            <a:fld id="{69E57DC2-970A-4B3E-BB1C-7A09969E49DF}" type="slidenum">
              <a:rPr lang="en-US" smtClean="0"/>
              <a:t>7</a:t>
            </a:fld>
            <a:endParaRPr lang="en-US" dirty="0"/>
          </a:p>
        </p:txBody>
      </p:sp>
      <p:grpSp>
        <p:nvGrpSpPr>
          <p:cNvPr id="27" name="Group 26">
            <a:extLst>
              <a:ext uri="{FF2B5EF4-FFF2-40B4-BE49-F238E27FC236}">
                <a16:creationId xmlns:a16="http://schemas.microsoft.com/office/drawing/2014/main" id="{B0E24495-2D49-4927-A102-883B73CEF942}"/>
              </a:ext>
            </a:extLst>
          </p:cNvPr>
          <p:cNvGrpSpPr/>
          <p:nvPr/>
        </p:nvGrpSpPr>
        <p:grpSpPr>
          <a:xfrm>
            <a:off x="1371599" y="1680634"/>
            <a:ext cx="7596231" cy="4670371"/>
            <a:chOff x="2038350" y="866775"/>
            <a:chExt cx="8115300" cy="5124450"/>
          </a:xfrm>
        </p:grpSpPr>
        <p:pic>
          <p:nvPicPr>
            <p:cNvPr id="22" name="Picture 21">
              <a:extLst>
                <a:ext uri="{FF2B5EF4-FFF2-40B4-BE49-F238E27FC236}">
                  <a16:creationId xmlns:a16="http://schemas.microsoft.com/office/drawing/2014/main" id="{FFFB0DFA-F04F-40D7-AB4B-725D57DCDD8E}"/>
                </a:ext>
              </a:extLst>
            </p:cNvPr>
            <p:cNvPicPr>
              <a:picLocks noChangeAspect="1"/>
            </p:cNvPicPr>
            <p:nvPr/>
          </p:nvPicPr>
          <p:blipFill>
            <a:blip r:embed="rId2"/>
            <a:stretch>
              <a:fillRect/>
            </a:stretch>
          </p:blipFill>
          <p:spPr>
            <a:xfrm>
              <a:off x="2038350" y="866775"/>
              <a:ext cx="8115300" cy="5124450"/>
            </a:xfrm>
            <a:prstGeom prst="rect">
              <a:avLst/>
            </a:prstGeom>
          </p:spPr>
        </p:pic>
        <p:pic>
          <p:nvPicPr>
            <p:cNvPr id="24" name="Picture 23">
              <a:extLst>
                <a:ext uri="{FF2B5EF4-FFF2-40B4-BE49-F238E27FC236}">
                  <a16:creationId xmlns:a16="http://schemas.microsoft.com/office/drawing/2014/main" id="{26CE34D5-076D-46C1-928E-496288C3DAD7}"/>
                </a:ext>
              </a:extLst>
            </p:cNvPr>
            <p:cNvPicPr>
              <a:picLocks noChangeAspect="1"/>
            </p:cNvPicPr>
            <p:nvPr/>
          </p:nvPicPr>
          <p:blipFill>
            <a:blip r:embed="rId3"/>
            <a:stretch>
              <a:fillRect/>
            </a:stretch>
          </p:blipFill>
          <p:spPr>
            <a:xfrm>
              <a:off x="8333108" y="1238249"/>
              <a:ext cx="257175" cy="4491431"/>
            </a:xfrm>
            <a:prstGeom prst="rect">
              <a:avLst/>
            </a:prstGeom>
          </p:spPr>
        </p:pic>
        <p:pic>
          <p:nvPicPr>
            <p:cNvPr id="26" name="Picture 25">
              <a:extLst>
                <a:ext uri="{FF2B5EF4-FFF2-40B4-BE49-F238E27FC236}">
                  <a16:creationId xmlns:a16="http://schemas.microsoft.com/office/drawing/2014/main" id="{EA0663A3-C238-4EDC-A92C-F39532125221}"/>
                </a:ext>
              </a:extLst>
            </p:cNvPr>
            <p:cNvPicPr>
              <a:picLocks noChangeAspect="1"/>
            </p:cNvPicPr>
            <p:nvPr/>
          </p:nvPicPr>
          <p:blipFill>
            <a:blip r:embed="rId3"/>
            <a:stretch>
              <a:fillRect/>
            </a:stretch>
          </p:blipFill>
          <p:spPr>
            <a:xfrm rot="16200000">
              <a:off x="5761043" y="2209306"/>
              <a:ext cx="231748" cy="7274110"/>
            </a:xfrm>
            <a:prstGeom prst="rect">
              <a:avLst/>
            </a:prstGeom>
          </p:spPr>
        </p:pic>
      </p:grpSp>
      <p:sp>
        <p:nvSpPr>
          <p:cNvPr id="28" name="TextBox 27">
            <a:extLst>
              <a:ext uri="{FF2B5EF4-FFF2-40B4-BE49-F238E27FC236}">
                <a16:creationId xmlns:a16="http://schemas.microsoft.com/office/drawing/2014/main" id="{8F909597-7D89-4568-86A7-DB985244C522}"/>
              </a:ext>
            </a:extLst>
          </p:cNvPr>
          <p:cNvSpPr txBox="1"/>
          <p:nvPr/>
        </p:nvSpPr>
        <p:spPr>
          <a:xfrm>
            <a:off x="9034943" y="2461547"/>
            <a:ext cx="3157057" cy="3108543"/>
          </a:xfrm>
          <a:prstGeom prst="rect">
            <a:avLst/>
          </a:prstGeom>
          <a:noFill/>
        </p:spPr>
        <p:txBody>
          <a:bodyPr wrap="square" rtlCol="0">
            <a:spAutoFit/>
          </a:bodyPr>
          <a:lstStyle/>
          <a:p>
            <a:pPr marL="72000" indent="-144000">
              <a:buFont typeface="Arial" panose="020B0604020202020204" pitchFamily="34" charset="0"/>
              <a:buChar char="•"/>
            </a:pPr>
            <a:r>
              <a:rPr lang="en-GB" sz="1400" dirty="0">
                <a:latin typeface="Calibri" panose="020F0502020204030204" pitchFamily="34" charset="0"/>
                <a:cs typeface="Calibri" panose="020F0502020204030204" pitchFamily="34" charset="0"/>
              </a:rPr>
              <a:t>November generated the largest revenue (14.5%)</a:t>
            </a:r>
            <a:br>
              <a:rPr lang="en-GB" sz="1400" dirty="0">
                <a:latin typeface="Calibri" panose="020F0502020204030204" pitchFamily="34" charset="0"/>
                <a:cs typeface="Calibri" panose="020F0502020204030204" pitchFamily="34" charset="0"/>
              </a:rPr>
            </a:br>
            <a:endParaRPr lang="en-GB" sz="14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400" dirty="0">
                <a:latin typeface="Calibri" panose="020F0502020204030204" pitchFamily="34" charset="0"/>
                <a:cs typeface="Calibri" panose="020F0502020204030204" pitchFamily="34" charset="0"/>
              </a:rPr>
              <a:t>Q4 performance was significantly better than the rest</a:t>
            </a:r>
            <a:br>
              <a:rPr lang="en-GB" sz="1400" dirty="0">
                <a:latin typeface="Calibri" panose="020F0502020204030204" pitchFamily="34" charset="0"/>
                <a:cs typeface="Calibri" panose="020F0502020204030204" pitchFamily="34" charset="0"/>
              </a:rPr>
            </a:br>
            <a:endParaRPr lang="en-GB" sz="14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400" dirty="0">
                <a:latin typeface="Calibri" panose="020F0502020204030204" pitchFamily="34" charset="0"/>
                <a:cs typeface="Calibri" panose="020F0502020204030204" pitchFamily="34" charset="0"/>
              </a:rPr>
              <a:t>Autumn / Pre-Christmas season is the best for the company so a strategy for optimising the resources should be mapped out</a:t>
            </a:r>
            <a:br>
              <a:rPr lang="en-GB" sz="1400" dirty="0">
                <a:latin typeface="Calibri" panose="020F0502020204030204" pitchFamily="34" charset="0"/>
                <a:cs typeface="Calibri" panose="020F0502020204030204" pitchFamily="34" charset="0"/>
              </a:rPr>
            </a:br>
            <a:endParaRPr lang="en-GB" sz="14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400" dirty="0">
                <a:latin typeface="Calibri" panose="020F0502020204030204" pitchFamily="34" charset="0"/>
                <a:cs typeface="Calibri" panose="020F0502020204030204" pitchFamily="34" charset="0"/>
              </a:rPr>
              <a:t>It would be useful to collect data for the cost of shipping and returns</a:t>
            </a:r>
          </a:p>
          <a:p>
            <a:pPr marL="72000" indent="-144000">
              <a:buFont typeface="Arial" panose="020B0604020202020204" pitchFamily="34" charset="0"/>
              <a:buChar char="•"/>
            </a:pPr>
            <a:endParaRPr lang="en-GB"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41998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AC3D9650-F2E1-479A-9C8E-55944D901358}"/>
              </a:ext>
            </a:extLst>
          </p:cNvPr>
          <p:cNvPicPr>
            <a:picLocks noGrp="1" noChangeAspect="1"/>
          </p:cNvPicPr>
          <p:nvPr>
            <p:ph idx="1"/>
          </p:nvPr>
        </p:nvPicPr>
        <p:blipFill>
          <a:blip r:embed="rId2"/>
          <a:stretch>
            <a:fillRect/>
          </a:stretch>
        </p:blipFill>
        <p:spPr>
          <a:xfrm>
            <a:off x="1371600" y="1570584"/>
            <a:ext cx="7661490" cy="4309586"/>
          </a:xfrm>
        </p:spPr>
      </p:pic>
      <p:sp>
        <p:nvSpPr>
          <p:cNvPr id="4" name="Date Placeholder 3">
            <a:extLst>
              <a:ext uri="{FF2B5EF4-FFF2-40B4-BE49-F238E27FC236}">
                <a16:creationId xmlns:a16="http://schemas.microsoft.com/office/drawing/2014/main" id="{FFDEC306-DF5C-44D7-B13F-7630BF6F1D3A}"/>
              </a:ext>
            </a:extLst>
          </p:cNvPr>
          <p:cNvSpPr>
            <a:spLocks noGrp="1"/>
          </p:cNvSpPr>
          <p:nvPr>
            <p:ph type="dt" sz="half" idx="10"/>
          </p:nvPr>
        </p:nvSpPr>
        <p:spPr/>
        <p:txBody>
          <a:bodyPr/>
          <a:lstStyle/>
          <a:p>
            <a:fld id="{EEA2411D-F0E6-4A2A-AF8D-1084F47F1E94}" type="datetime1">
              <a:rPr lang="en-US" smtClean="0"/>
              <a:t>7/29/2020</a:t>
            </a:fld>
            <a:endParaRPr lang="en-US" dirty="0"/>
          </a:p>
        </p:txBody>
      </p:sp>
      <p:sp>
        <p:nvSpPr>
          <p:cNvPr id="5" name="Footer Placeholder 4">
            <a:extLst>
              <a:ext uri="{FF2B5EF4-FFF2-40B4-BE49-F238E27FC236}">
                <a16:creationId xmlns:a16="http://schemas.microsoft.com/office/drawing/2014/main" id="{91D38A76-EAA9-49F8-A39E-471F55A266A6}"/>
              </a:ext>
            </a:extLst>
          </p:cNvPr>
          <p:cNvSpPr>
            <a:spLocks noGrp="1"/>
          </p:cNvSpPr>
          <p:nvPr>
            <p:ph type="ftr" sz="quarter" idx="11"/>
          </p:nvPr>
        </p:nvSpPr>
        <p:spPr/>
        <p:txBody>
          <a:bodyPr/>
          <a:lstStyle/>
          <a:p>
            <a:r>
              <a:rPr lang="en-US"/>
              <a:t>Dr Dimitar Dimov - Data Analyst Candidate at LOR</a:t>
            </a:r>
            <a:endParaRPr lang="en-US" dirty="0"/>
          </a:p>
        </p:txBody>
      </p:sp>
      <p:sp>
        <p:nvSpPr>
          <p:cNvPr id="6" name="Slide Number Placeholder 5">
            <a:extLst>
              <a:ext uri="{FF2B5EF4-FFF2-40B4-BE49-F238E27FC236}">
                <a16:creationId xmlns:a16="http://schemas.microsoft.com/office/drawing/2014/main" id="{DFA13781-C963-48E1-843C-2F9C2658EEA4}"/>
              </a:ext>
            </a:extLst>
          </p:cNvPr>
          <p:cNvSpPr>
            <a:spLocks noGrp="1"/>
          </p:cNvSpPr>
          <p:nvPr>
            <p:ph type="sldNum" sz="quarter" idx="12"/>
          </p:nvPr>
        </p:nvSpPr>
        <p:spPr/>
        <p:txBody>
          <a:bodyPr/>
          <a:lstStyle/>
          <a:p>
            <a:fld id="{69E57DC2-970A-4B3E-BB1C-7A09969E49DF}" type="slidenum">
              <a:rPr lang="en-US" smtClean="0"/>
              <a:t>8</a:t>
            </a:fld>
            <a:endParaRPr lang="en-US" dirty="0"/>
          </a:p>
        </p:txBody>
      </p:sp>
      <p:sp>
        <p:nvSpPr>
          <p:cNvPr id="14" name="TextBox 13">
            <a:extLst>
              <a:ext uri="{FF2B5EF4-FFF2-40B4-BE49-F238E27FC236}">
                <a16:creationId xmlns:a16="http://schemas.microsoft.com/office/drawing/2014/main" id="{DC8232AC-640B-481A-A97B-66EBE8F7C87C}"/>
              </a:ext>
            </a:extLst>
          </p:cNvPr>
          <p:cNvSpPr txBox="1"/>
          <p:nvPr/>
        </p:nvSpPr>
        <p:spPr>
          <a:xfrm>
            <a:off x="9033090" y="1278553"/>
            <a:ext cx="3107090" cy="4893647"/>
          </a:xfrm>
          <a:prstGeom prst="rect">
            <a:avLst/>
          </a:prstGeom>
          <a:noFill/>
        </p:spPr>
        <p:txBody>
          <a:bodyPr wrap="square" rtlCol="0">
            <a:spAutoFit/>
          </a:bodyPr>
          <a:lstStyle/>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The chart on the left shows the volume of all transactions grouped by the day of the month</a:t>
            </a:r>
          </a:p>
          <a:p>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It is clear that the highest volume occurs between the 4</a:t>
            </a:r>
            <a:r>
              <a:rPr lang="en-GB" sz="1200" baseline="30000" dirty="0">
                <a:latin typeface="Calibri" panose="020F0502020204030204" pitchFamily="34" charset="0"/>
                <a:cs typeface="Calibri" panose="020F0502020204030204" pitchFamily="34" charset="0"/>
              </a:rPr>
              <a:t>th</a:t>
            </a:r>
            <a:r>
              <a:rPr lang="en-GB" sz="1200" dirty="0">
                <a:latin typeface="Calibri" panose="020F0502020204030204" pitchFamily="34" charset="0"/>
                <a:cs typeface="Calibri" panose="020F0502020204030204" pitchFamily="34" charset="0"/>
              </a:rPr>
              <a:t> and 9</a:t>
            </a:r>
            <a:r>
              <a:rPr lang="en-GB" sz="1200" baseline="30000" dirty="0">
                <a:latin typeface="Calibri" panose="020F0502020204030204" pitchFamily="34" charset="0"/>
                <a:cs typeface="Calibri" panose="020F0502020204030204" pitchFamily="34" charset="0"/>
              </a:rPr>
              <a:t>th</a:t>
            </a:r>
            <a:r>
              <a:rPr lang="en-GB" sz="1200" dirty="0">
                <a:latin typeface="Calibri" panose="020F0502020204030204" pitchFamily="34" charset="0"/>
                <a:cs typeface="Calibri" panose="020F0502020204030204" pitchFamily="34" charset="0"/>
              </a:rPr>
              <a:t> of each month – what is the reason behind this? Soon after pay checks? </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The colour of the data points shows the number of products sold – the darker the blue, the higher the number</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There is little activity towards the end of the month – perhaps incentivise the client by offering month end promotions and discounts? </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The 17</a:t>
            </a:r>
            <a:r>
              <a:rPr lang="en-GB" sz="1200" baseline="30000" dirty="0">
                <a:latin typeface="Calibri" panose="020F0502020204030204" pitchFamily="34" charset="0"/>
                <a:cs typeface="Calibri" panose="020F0502020204030204" pitchFamily="34" charset="0"/>
              </a:rPr>
              <a:t>th</a:t>
            </a:r>
            <a:r>
              <a:rPr lang="en-GB" sz="1200" dirty="0">
                <a:latin typeface="Calibri" panose="020F0502020204030204" pitchFamily="34" charset="0"/>
                <a:cs typeface="Calibri" panose="020F0502020204030204" pitchFamily="34" charset="0"/>
              </a:rPr>
              <a:t> day of the month is an outlier – why is it special? Worth checking which products are sold on that day and why</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The chart on the right shows the clear trend of increased volume of transactions in Q3 and Q4 – what changed for the company in this period? How can they further optimise / leverage in the future?</a:t>
            </a:r>
          </a:p>
        </p:txBody>
      </p:sp>
      <p:sp>
        <p:nvSpPr>
          <p:cNvPr id="2" name="Title 1">
            <a:extLst>
              <a:ext uri="{FF2B5EF4-FFF2-40B4-BE49-F238E27FC236}">
                <a16:creationId xmlns:a16="http://schemas.microsoft.com/office/drawing/2014/main" id="{ABB316BF-DDC8-4EA2-B0A5-3584FB2C1194}"/>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4 – cont’d </a:t>
            </a:r>
          </a:p>
        </p:txBody>
      </p:sp>
    </p:spTree>
    <p:extLst>
      <p:ext uri="{BB962C8B-B14F-4D97-AF65-F5344CB8AC3E}">
        <p14:creationId xmlns:p14="http://schemas.microsoft.com/office/powerpoint/2010/main" val="2267502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E2B0BDC-78CC-4746-9AED-09B510E1518B}"/>
              </a:ext>
            </a:extLst>
          </p:cNvPr>
          <p:cNvSpPr>
            <a:spLocks noGrp="1"/>
          </p:cNvSpPr>
          <p:nvPr>
            <p:ph type="dt" sz="half" idx="10"/>
          </p:nvPr>
        </p:nvSpPr>
        <p:spPr/>
        <p:txBody>
          <a:bodyPr/>
          <a:lstStyle/>
          <a:p>
            <a:fld id="{A43C9591-510C-45D9-958F-AA949A6EDC18}" type="datetime1">
              <a:rPr lang="en-US" smtClean="0"/>
              <a:t>7/29/2020</a:t>
            </a:fld>
            <a:endParaRPr lang="en-US" dirty="0"/>
          </a:p>
        </p:txBody>
      </p:sp>
      <p:sp>
        <p:nvSpPr>
          <p:cNvPr id="5" name="Footer Placeholder 4">
            <a:extLst>
              <a:ext uri="{FF2B5EF4-FFF2-40B4-BE49-F238E27FC236}">
                <a16:creationId xmlns:a16="http://schemas.microsoft.com/office/drawing/2014/main" id="{65BE2109-B5F3-4332-B3F2-2B24DC39B084}"/>
              </a:ext>
            </a:extLst>
          </p:cNvPr>
          <p:cNvSpPr>
            <a:spLocks noGrp="1"/>
          </p:cNvSpPr>
          <p:nvPr>
            <p:ph type="ftr" sz="quarter" idx="11"/>
          </p:nvPr>
        </p:nvSpPr>
        <p:spPr/>
        <p:txBody>
          <a:bodyPr/>
          <a:lstStyle/>
          <a:p>
            <a:r>
              <a:rPr lang="en-US"/>
              <a:t>Dr Dimitar Dimov - Data Analyst Candidate at LOR</a:t>
            </a:r>
            <a:endParaRPr lang="en-US" dirty="0"/>
          </a:p>
        </p:txBody>
      </p:sp>
      <p:sp>
        <p:nvSpPr>
          <p:cNvPr id="6" name="Slide Number Placeholder 5">
            <a:extLst>
              <a:ext uri="{FF2B5EF4-FFF2-40B4-BE49-F238E27FC236}">
                <a16:creationId xmlns:a16="http://schemas.microsoft.com/office/drawing/2014/main" id="{E8655371-4B1D-4284-AD62-A5AAFBB3C4C0}"/>
              </a:ext>
            </a:extLst>
          </p:cNvPr>
          <p:cNvSpPr>
            <a:spLocks noGrp="1"/>
          </p:cNvSpPr>
          <p:nvPr>
            <p:ph type="sldNum" sz="quarter" idx="12"/>
          </p:nvPr>
        </p:nvSpPr>
        <p:spPr/>
        <p:txBody>
          <a:bodyPr/>
          <a:lstStyle/>
          <a:p>
            <a:fld id="{69E57DC2-970A-4B3E-BB1C-7A09969E49DF}" type="slidenum">
              <a:rPr lang="en-US" smtClean="0"/>
              <a:t>9</a:t>
            </a:fld>
            <a:endParaRPr lang="en-US" dirty="0"/>
          </a:p>
        </p:txBody>
      </p:sp>
      <p:sp>
        <p:nvSpPr>
          <p:cNvPr id="12" name="TextBox 11">
            <a:extLst>
              <a:ext uri="{FF2B5EF4-FFF2-40B4-BE49-F238E27FC236}">
                <a16:creationId xmlns:a16="http://schemas.microsoft.com/office/drawing/2014/main" id="{23B6F1DC-D17D-45A7-9705-FC731CFF0879}"/>
              </a:ext>
            </a:extLst>
          </p:cNvPr>
          <p:cNvSpPr txBox="1"/>
          <p:nvPr/>
        </p:nvSpPr>
        <p:spPr>
          <a:xfrm>
            <a:off x="9465170" y="1411705"/>
            <a:ext cx="2658044" cy="5447645"/>
          </a:xfrm>
          <a:prstGeom prst="rect">
            <a:avLst/>
          </a:prstGeom>
          <a:noFill/>
        </p:spPr>
        <p:txBody>
          <a:bodyPr wrap="square" rtlCol="0">
            <a:spAutoFit/>
          </a:bodyPr>
          <a:lstStyle/>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The average number of products purchased by a customer is 1,148</a:t>
            </a:r>
          </a:p>
          <a:p>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This chart shows that the top 20 customers (out of ~4300 in total) have purchased more than 20x or even 60x the average </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Worth checking customer 14646 – is there a problem with the data? I dropped the duplicates but perhaps some are left? </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Clearly less than 10% of total customers are generating 80%+ of the revenue </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What about returns?</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How much actual profit are the customers generating?</a:t>
            </a:r>
            <a:r>
              <a:rPr lang="en-GB" sz="1200" i="1" dirty="0">
                <a:latin typeface="Calibri" panose="020F0502020204030204" pitchFamily="34" charset="0"/>
                <a:cs typeface="Calibri" panose="020F0502020204030204" pitchFamily="34" charset="0"/>
              </a:rPr>
              <a:t> </a:t>
            </a:r>
            <a:br>
              <a:rPr lang="en-GB" sz="1200" i="1" dirty="0">
                <a:latin typeface="Calibri" panose="020F0502020204030204" pitchFamily="34" charset="0"/>
                <a:cs typeface="Calibri" panose="020F0502020204030204" pitchFamily="34" charset="0"/>
              </a:rPr>
            </a:br>
            <a:endParaRPr lang="en-GB" sz="1200" i="1"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Is there a customer registration option and what does the company do to incentivise their highest spenders to spend more? Loyalty programs perhaps? </a:t>
            </a:r>
          </a:p>
          <a:p>
            <a:pPr marL="72000" indent="-144000">
              <a:buFont typeface="Arial" panose="020B0604020202020204" pitchFamily="34" charset="0"/>
              <a:buChar char="•"/>
            </a:pP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endParaRPr lang="en-GB" sz="1200" dirty="0">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E423F3AA-5C5D-467E-B07B-A0892594FD5F}"/>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4 – cont’d </a:t>
            </a:r>
          </a:p>
        </p:txBody>
      </p:sp>
      <p:pic>
        <p:nvPicPr>
          <p:cNvPr id="13" name="Content Placeholder 12">
            <a:extLst>
              <a:ext uri="{FF2B5EF4-FFF2-40B4-BE49-F238E27FC236}">
                <a16:creationId xmlns:a16="http://schemas.microsoft.com/office/drawing/2014/main" id="{FA93436A-35F1-43DB-B388-0065FDF13E0D}"/>
              </a:ext>
            </a:extLst>
          </p:cNvPr>
          <p:cNvPicPr>
            <a:picLocks noGrp="1" noChangeAspect="1"/>
          </p:cNvPicPr>
          <p:nvPr>
            <p:ph idx="1"/>
          </p:nvPr>
        </p:nvPicPr>
        <p:blipFill>
          <a:blip r:embed="rId2"/>
          <a:stretch>
            <a:fillRect/>
          </a:stretch>
        </p:blipFill>
        <p:spPr>
          <a:xfrm>
            <a:off x="1398547" y="1568742"/>
            <a:ext cx="8066623" cy="4675928"/>
          </a:xfrm>
        </p:spPr>
      </p:pic>
    </p:spTree>
    <p:extLst>
      <p:ext uri="{BB962C8B-B14F-4D97-AF65-F5344CB8AC3E}">
        <p14:creationId xmlns:p14="http://schemas.microsoft.com/office/powerpoint/2010/main" val="41814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E2B0BDC-78CC-4746-9AED-09B510E1518B}"/>
              </a:ext>
            </a:extLst>
          </p:cNvPr>
          <p:cNvSpPr>
            <a:spLocks noGrp="1"/>
          </p:cNvSpPr>
          <p:nvPr>
            <p:ph type="dt" sz="half" idx="10"/>
          </p:nvPr>
        </p:nvSpPr>
        <p:spPr/>
        <p:txBody>
          <a:bodyPr/>
          <a:lstStyle/>
          <a:p>
            <a:fld id="{A43C9591-510C-45D9-958F-AA949A6EDC18}" type="datetime1">
              <a:rPr lang="en-US" smtClean="0"/>
              <a:t>7/29/2020</a:t>
            </a:fld>
            <a:endParaRPr lang="en-US" dirty="0"/>
          </a:p>
        </p:txBody>
      </p:sp>
      <p:sp>
        <p:nvSpPr>
          <p:cNvPr id="5" name="Footer Placeholder 4">
            <a:extLst>
              <a:ext uri="{FF2B5EF4-FFF2-40B4-BE49-F238E27FC236}">
                <a16:creationId xmlns:a16="http://schemas.microsoft.com/office/drawing/2014/main" id="{65BE2109-B5F3-4332-B3F2-2B24DC39B084}"/>
              </a:ext>
            </a:extLst>
          </p:cNvPr>
          <p:cNvSpPr>
            <a:spLocks noGrp="1"/>
          </p:cNvSpPr>
          <p:nvPr>
            <p:ph type="ftr" sz="quarter" idx="11"/>
          </p:nvPr>
        </p:nvSpPr>
        <p:spPr/>
        <p:txBody>
          <a:bodyPr/>
          <a:lstStyle/>
          <a:p>
            <a:r>
              <a:rPr lang="en-US"/>
              <a:t>Dr Dimitar Dimov - Data Analyst Candidate at LOR</a:t>
            </a:r>
            <a:endParaRPr lang="en-US" dirty="0"/>
          </a:p>
        </p:txBody>
      </p:sp>
      <p:sp>
        <p:nvSpPr>
          <p:cNvPr id="6" name="Slide Number Placeholder 5">
            <a:extLst>
              <a:ext uri="{FF2B5EF4-FFF2-40B4-BE49-F238E27FC236}">
                <a16:creationId xmlns:a16="http://schemas.microsoft.com/office/drawing/2014/main" id="{E8655371-4B1D-4284-AD62-A5AAFBB3C4C0}"/>
              </a:ext>
            </a:extLst>
          </p:cNvPr>
          <p:cNvSpPr>
            <a:spLocks noGrp="1"/>
          </p:cNvSpPr>
          <p:nvPr>
            <p:ph type="sldNum" sz="quarter" idx="12"/>
          </p:nvPr>
        </p:nvSpPr>
        <p:spPr/>
        <p:txBody>
          <a:bodyPr/>
          <a:lstStyle/>
          <a:p>
            <a:fld id="{69E57DC2-970A-4B3E-BB1C-7A09969E49DF}" type="slidenum">
              <a:rPr lang="en-US" smtClean="0"/>
              <a:t>10</a:t>
            </a:fld>
            <a:endParaRPr lang="en-US" dirty="0"/>
          </a:p>
        </p:txBody>
      </p:sp>
      <p:sp>
        <p:nvSpPr>
          <p:cNvPr id="12" name="TextBox 11">
            <a:extLst>
              <a:ext uri="{FF2B5EF4-FFF2-40B4-BE49-F238E27FC236}">
                <a16:creationId xmlns:a16="http://schemas.microsoft.com/office/drawing/2014/main" id="{23B6F1DC-D17D-45A7-9705-FC731CFF0879}"/>
              </a:ext>
            </a:extLst>
          </p:cNvPr>
          <p:cNvSpPr txBox="1"/>
          <p:nvPr/>
        </p:nvSpPr>
        <p:spPr>
          <a:xfrm>
            <a:off x="9533956" y="1116390"/>
            <a:ext cx="2658044" cy="5632311"/>
          </a:xfrm>
          <a:prstGeom prst="rect">
            <a:avLst/>
          </a:prstGeom>
          <a:noFill/>
        </p:spPr>
        <p:txBody>
          <a:bodyPr wrap="square" rtlCol="0">
            <a:spAutoFit/>
          </a:bodyPr>
          <a:lstStyle/>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The chart on the left shows data about the Frequency measure of the RFM analysis</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It shows that the average return rate of all customers is 4 times</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I have presented the top 30 customers which show significantly higher return rate (Frequency) than the average</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Customers can be further grouped and categorised by their Frequency count</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 A new marketing strategy may be mapped out to address all customers with Frequency close to the average – how can it be increased?</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By optimising the shopping experience?</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By sending follow up emails with discounts?</a:t>
            </a:r>
            <a:br>
              <a:rPr lang="en-GB" sz="1200" dirty="0">
                <a:latin typeface="Calibri" panose="020F0502020204030204" pitchFamily="34" charset="0"/>
                <a:cs typeface="Calibri" panose="020F0502020204030204" pitchFamily="34" charset="0"/>
              </a:rPr>
            </a:br>
            <a:endParaRPr lang="en-GB" sz="1200" dirty="0">
              <a:latin typeface="Calibri" panose="020F0502020204030204" pitchFamily="34" charset="0"/>
              <a:cs typeface="Calibri" panose="020F0502020204030204" pitchFamily="34" charset="0"/>
            </a:endParaRPr>
          </a:p>
          <a:p>
            <a:pPr marL="72000" indent="-144000">
              <a:buFont typeface="Arial" panose="020B0604020202020204" pitchFamily="34" charset="0"/>
              <a:buChar char="•"/>
            </a:pPr>
            <a:r>
              <a:rPr lang="en-GB" sz="1200" dirty="0">
                <a:latin typeface="Calibri" panose="020F0502020204030204" pitchFamily="34" charset="0"/>
                <a:cs typeface="Calibri" panose="020F0502020204030204" pitchFamily="34" charset="0"/>
              </a:rPr>
              <a:t>Is there an issue with the payments system?</a:t>
            </a:r>
          </a:p>
          <a:p>
            <a:pPr marL="72000" indent="-144000">
              <a:buFont typeface="Arial" panose="020B0604020202020204" pitchFamily="34" charset="0"/>
              <a:buChar char="•"/>
            </a:pPr>
            <a:endParaRPr lang="en-GB" sz="1200" dirty="0">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E423F3AA-5C5D-467E-B07B-A0892594FD5F}"/>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4 – cont’d </a:t>
            </a:r>
          </a:p>
        </p:txBody>
      </p:sp>
      <p:pic>
        <p:nvPicPr>
          <p:cNvPr id="9" name="Content Placeholder 8">
            <a:extLst>
              <a:ext uri="{FF2B5EF4-FFF2-40B4-BE49-F238E27FC236}">
                <a16:creationId xmlns:a16="http://schemas.microsoft.com/office/drawing/2014/main" id="{1D02A3BA-70DE-4DD8-BF3C-026527B94F5D}"/>
              </a:ext>
            </a:extLst>
          </p:cNvPr>
          <p:cNvPicPr>
            <a:picLocks noGrp="1" noChangeAspect="1"/>
          </p:cNvPicPr>
          <p:nvPr>
            <p:ph idx="1"/>
          </p:nvPr>
        </p:nvPicPr>
        <p:blipFill>
          <a:blip r:embed="rId2"/>
          <a:stretch>
            <a:fillRect/>
          </a:stretch>
        </p:blipFill>
        <p:spPr>
          <a:xfrm>
            <a:off x="1371600" y="1613366"/>
            <a:ext cx="8101136" cy="4638359"/>
          </a:xfrm>
        </p:spPr>
      </p:pic>
    </p:spTree>
    <p:extLst>
      <p:ext uri="{BB962C8B-B14F-4D97-AF65-F5344CB8AC3E}">
        <p14:creationId xmlns:p14="http://schemas.microsoft.com/office/powerpoint/2010/main" val="2870994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023003-137A-412F-85B6-E240644C59C3}"/>
              </a:ext>
            </a:extLst>
          </p:cNvPr>
          <p:cNvSpPr>
            <a:spLocks noGrp="1"/>
          </p:cNvSpPr>
          <p:nvPr>
            <p:ph idx="1"/>
          </p:nvPr>
        </p:nvSpPr>
        <p:spPr>
          <a:xfrm>
            <a:off x="1371600" y="1411705"/>
            <a:ext cx="9081083" cy="4280151"/>
          </a:xfrm>
        </p:spPr>
        <p:txBody>
          <a:bodyPr>
            <a:normAutofit fontScale="92500" lnSpcReduction="10000"/>
          </a:bodyPr>
          <a:lstStyle/>
          <a:p>
            <a:pPr marL="0" indent="0">
              <a:lnSpc>
                <a:spcPct val="107000"/>
              </a:lnSpc>
              <a:spcAft>
                <a:spcPts val="800"/>
              </a:spcAft>
              <a:buNone/>
            </a:pPr>
            <a:r>
              <a:rPr lang="en-GB" sz="1200" dirty="0">
                <a:latin typeface="Calibri" panose="020F0502020204030204" pitchFamily="34" charset="0"/>
                <a:ea typeface="Calibri" panose="020F0502020204030204" pitchFamily="34" charset="0"/>
                <a:cs typeface="Times New Roman" panose="02020603050405020304" pitchFamily="18" charset="0"/>
              </a:rPr>
              <a:t>T</a:t>
            </a:r>
            <a:r>
              <a:rPr lang="en-GB" sz="1200" dirty="0">
                <a:effectLst/>
                <a:latin typeface="Calibri" panose="020F0502020204030204" pitchFamily="34" charset="0"/>
                <a:ea typeface="Calibri" panose="020F0502020204030204" pitchFamily="34" charset="0"/>
                <a:cs typeface="Times New Roman" panose="02020603050405020304" pitchFamily="18" charset="0"/>
              </a:rPr>
              <a:t>he key findings from the </a:t>
            </a:r>
            <a:r>
              <a:rPr lang="en-GB" sz="1200" b="1" dirty="0" err="1">
                <a:effectLst/>
                <a:latin typeface="Calibri" panose="020F0502020204030204" pitchFamily="34" charset="0"/>
                <a:ea typeface="Calibri" panose="020F0502020204030204" pitchFamily="34" charset="0"/>
                <a:cs typeface="Times New Roman" panose="02020603050405020304" pitchFamily="18" charset="0"/>
              </a:rPr>
              <a:t>products_dataset</a:t>
            </a:r>
            <a:r>
              <a:rPr lang="en-GB" sz="1200" b="1" dirty="0">
                <a:effectLst/>
                <a:latin typeface="Calibri" panose="020F0502020204030204" pitchFamily="34" charset="0"/>
                <a:ea typeface="Calibri" panose="020F0502020204030204" pitchFamily="34" charset="0"/>
                <a:cs typeface="Times New Roman" panose="02020603050405020304" pitchFamily="18" charset="0"/>
              </a:rPr>
              <a:t> </a:t>
            </a:r>
            <a:r>
              <a:rPr lang="en-GB" sz="1200" dirty="0">
                <a:effectLst/>
                <a:latin typeface="Calibri" panose="020F0502020204030204" pitchFamily="34" charset="0"/>
                <a:ea typeface="Calibri" panose="020F0502020204030204" pitchFamily="34" charset="0"/>
                <a:cs typeface="Times New Roman" panose="02020603050405020304" pitchFamily="18" charset="0"/>
              </a:rPr>
              <a:t>analysis:</a:t>
            </a:r>
          </a:p>
          <a:p>
            <a:pPr marL="342900" lvl="0" indent="-342900">
              <a:lnSpc>
                <a:spcPct val="107000"/>
              </a:lnSpc>
              <a:buFont typeface="Symbol" panose="05050102010706020507" pitchFamily="18" charset="2"/>
              <a:buChar char=""/>
            </a:pPr>
            <a:r>
              <a:rPr lang="en-GB" sz="1200" dirty="0">
                <a:effectLst/>
                <a:latin typeface="Calibri" panose="020F0502020204030204" pitchFamily="34" charset="0"/>
                <a:ea typeface="Calibri" panose="020F0502020204030204" pitchFamily="34" charset="0"/>
                <a:cs typeface="Times New Roman" panose="02020603050405020304" pitchFamily="18" charset="0"/>
              </a:rPr>
              <a:t>Total Revenue for the year - £10,033,747</a:t>
            </a:r>
          </a:p>
          <a:p>
            <a:pPr marL="342900" lvl="0" indent="-342900">
              <a:lnSpc>
                <a:spcPct val="107000"/>
              </a:lnSpc>
              <a:buFont typeface="Symbol" panose="05050102010706020507" pitchFamily="18" charset="2"/>
              <a:buChar char=""/>
            </a:pPr>
            <a:r>
              <a:rPr lang="en-GB" sz="1200" dirty="0">
                <a:latin typeface="Calibri" panose="020F0502020204030204" pitchFamily="34" charset="0"/>
                <a:ea typeface="Calibri" panose="020F0502020204030204" pitchFamily="34" charset="0"/>
                <a:cs typeface="Times New Roman" panose="02020603050405020304" pitchFamily="18" charset="0"/>
              </a:rPr>
              <a:t>The average weekly revenue is £196,740</a:t>
            </a:r>
          </a:p>
          <a:p>
            <a:pPr marL="342900" lvl="0" indent="-342900">
              <a:lnSpc>
                <a:spcPct val="107000"/>
              </a:lnSpc>
              <a:spcAft>
                <a:spcPts val="800"/>
              </a:spcAft>
              <a:buFont typeface="Symbol" panose="05050102010706020507" pitchFamily="18" charset="2"/>
              <a:buChar char=""/>
            </a:pPr>
            <a:r>
              <a:rPr lang="en-GB" sz="1200" dirty="0">
                <a:latin typeface="Calibri" panose="020F0502020204030204" pitchFamily="34" charset="0"/>
                <a:ea typeface="Calibri" panose="020F0502020204030204" pitchFamily="34" charset="0"/>
                <a:cs typeface="Times New Roman" panose="02020603050405020304" pitchFamily="18" charset="0"/>
              </a:rPr>
              <a:t>Best performing month – November (14.5% of total sales)</a:t>
            </a:r>
          </a:p>
          <a:p>
            <a:pPr marL="342900" lvl="0" indent="-342900">
              <a:lnSpc>
                <a:spcPct val="107000"/>
              </a:lnSpc>
              <a:spcAft>
                <a:spcPts val="800"/>
              </a:spcAft>
              <a:buFont typeface="Symbol" panose="05050102010706020507" pitchFamily="18" charset="2"/>
              <a:buChar char=""/>
            </a:pPr>
            <a:r>
              <a:rPr lang="en-GB" sz="1200" dirty="0">
                <a:latin typeface="Calibri" panose="020F0502020204030204" pitchFamily="34" charset="0"/>
                <a:ea typeface="Calibri" panose="020F0502020204030204" pitchFamily="34" charset="0"/>
                <a:cs typeface="Times New Roman" panose="02020603050405020304" pitchFamily="18" charset="0"/>
              </a:rPr>
              <a:t>Most transactions occur between days 4 and 9 of each month</a:t>
            </a:r>
          </a:p>
          <a:p>
            <a:pPr marL="342900" lvl="0" indent="-342900">
              <a:lnSpc>
                <a:spcPct val="107000"/>
              </a:lnSpc>
              <a:spcAft>
                <a:spcPts val="800"/>
              </a:spcAft>
              <a:buFont typeface="Symbol" panose="05050102010706020507" pitchFamily="18" charset="2"/>
              <a:buChar char=""/>
            </a:pPr>
            <a:r>
              <a:rPr lang="en-GB" sz="1200" dirty="0">
                <a:effectLst/>
                <a:latin typeface="Calibri" panose="020F0502020204030204" pitchFamily="34" charset="0"/>
                <a:ea typeface="Calibri" panose="020F0502020204030204" pitchFamily="34" charset="0"/>
                <a:cs typeface="Times New Roman" panose="02020603050405020304" pitchFamily="18" charset="0"/>
              </a:rPr>
              <a:t>The top 5 countries where customers purchase from</a:t>
            </a:r>
          </a:p>
          <a:p>
            <a:pPr marL="742950" lvl="1" indent="-285750">
              <a:lnSpc>
                <a:spcPct val="107000"/>
              </a:lnSpc>
              <a:buFont typeface="Courier New" panose="02070309020205020404" pitchFamily="49" charset="0"/>
              <a:buChar char="o"/>
            </a:pPr>
            <a:r>
              <a:rPr lang="en-GB" sz="1200" dirty="0">
                <a:effectLst/>
                <a:latin typeface="Calibri" panose="020F0502020204030204" pitchFamily="34" charset="0"/>
                <a:ea typeface="Calibri" panose="020F0502020204030204" pitchFamily="34" charset="0"/>
                <a:cs typeface="Times New Roman" panose="02020603050405020304" pitchFamily="18" charset="0"/>
              </a:rPr>
              <a:t>UK, Netherlands, EIRE, Germany, France</a:t>
            </a:r>
          </a:p>
          <a:p>
            <a:pPr marL="0" indent="0">
              <a:lnSpc>
                <a:spcPct val="107000"/>
              </a:lnSpc>
              <a:spcAft>
                <a:spcPts val="800"/>
              </a:spcAft>
              <a:buNone/>
            </a:pPr>
            <a:br>
              <a:rPr lang="en-GB" sz="1200" dirty="0">
                <a:effectLst/>
                <a:latin typeface="Calibri" panose="020F0502020204030204" pitchFamily="34" charset="0"/>
                <a:ea typeface="Calibri" panose="020F0502020204030204" pitchFamily="34" charset="0"/>
                <a:cs typeface="Times New Roman" panose="02020603050405020304" pitchFamily="18" charset="0"/>
              </a:rPr>
            </a:br>
            <a:r>
              <a:rPr lang="en-GB" sz="1200" dirty="0">
                <a:effectLst/>
                <a:latin typeface="Calibri" panose="020F0502020204030204" pitchFamily="34" charset="0"/>
                <a:ea typeface="Calibri" panose="020F0502020204030204" pitchFamily="34" charset="0"/>
                <a:cs typeface="Times New Roman" panose="02020603050405020304" pitchFamily="18" charset="0"/>
              </a:rPr>
              <a:t>The key findings from the </a:t>
            </a:r>
            <a:r>
              <a:rPr lang="en-GB" sz="1200" b="1" dirty="0" err="1">
                <a:effectLst/>
                <a:latin typeface="Calibri" panose="020F0502020204030204" pitchFamily="34" charset="0"/>
                <a:ea typeface="Calibri" panose="020F0502020204030204" pitchFamily="34" charset="0"/>
                <a:cs typeface="Times New Roman" panose="02020603050405020304" pitchFamily="18" charset="0"/>
              </a:rPr>
              <a:t>customers_dataset</a:t>
            </a:r>
            <a:r>
              <a:rPr lang="en-GB" sz="1200" b="1" dirty="0">
                <a:effectLst/>
                <a:latin typeface="Calibri" panose="020F0502020204030204" pitchFamily="34" charset="0"/>
                <a:ea typeface="Calibri" panose="020F0502020204030204" pitchFamily="34" charset="0"/>
                <a:cs typeface="Times New Roman" panose="02020603050405020304" pitchFamily="18" charset="0"/>
              </a:rPr>
              <a:t> </a:t>
            </a:r>
            <a:r>
              <a:rPr lang="en-GB" sz="1200" dirty="0">
                <a:effectLst/>
                <a:latin typeface="Calibri" panose="020F0502020204030204" pitchFamily="34" charset="0"/>
                <a:ea typeface="Calibri" panose="020F0502020204030204" pitchFamily="34" charset="0"/>
                <a:cs typeface="Times New Roman" panose="02020603050405020304" pitchFamily="18" charset="0"/>
              </a:rPr>
              <a:t>analysis:</a:t>
            </a:r>
          </a:p>
          <a:p>
            <a:pPr marL="342900" lvl="0" indent="-342900">
              <a:lnSpc>
                <a:spcPct val="107000"/>
              </a:lnSpc>
              <a:buFont typeface="Symbol" panose="05050102010706020507" pitchFamily="18" charset="2"/>
              <a:buChar char=""/>
            </a:pPr>
            <a:r>
              <a:rPr lang="en-GB" sz="1200" dirty="0">
                <a:effectLst/>
                <a:latin typeface="Calibri" panose="020F0502020204030204" pitchFamily="34" charset="0"/>
                <a:ea typeface="Calibri" panose="020F0502020204030204" pitchFamily="34" charset="0"/>
                <a:cs typeface="Times New Roman" panose="02020603050405020304" pitchFamily="18" charset="0"/>
              </a:rPr>
              <a:t>There are 4334 unique customers</a:t>
            </a:r>
          </a:p>
          <a:p>
            <a:pPr marL="342900" lvl="0" indent="-342900">
              <a:lnSpc>
                <a:spcPct val="107000"/>
              </a:lnSpc>
              <a:buFont typeface="Symbol" panose="05050102010706020507" pitchFamily="18" charset="2"/>
              <a:buChar char=""/>
            </a:pPr>
            <a:r>
              <a:rPr lang="en-GB" sz="1200" dirty="0">
                <a:effectLst/>
                <a:latin typeface="Calibri" panose="020F0502020204030204" pitchFamily="34" charset="0"/>
                <a:ea typeface="Calibri" panose="020F0502020204030204" pitchFamily="34" charset="0"/>
                <a:cs typeface="Times New Roman" panose="02020603050405020304" pitchFamily="18" charset="0"/>
              </a:rPr>
              <a:t>The most active customer – number 14646, purchased total of 197,420 products and is from the Netherlands</a:t>
            </a:r>
          </a:p>
          <a:p>
            <a:pPr marL="342900" lvl="0" indent="-342900">
              <a:lnSpc>
                <a:spcPct val="107000"/>
              </a:lnSpc>
              <a:spcAft>
                <a:spcPts val="800"/>
              </a:spcAft>
              <a:buFont typeface="Symbol" panose="05050102010706020507" pitchFamily="18" charset="2"/>
              <a:buChar char=""/>
            </a:pPr>
            <a:r>
              <a:rPr lang="en-GB" sz="1200" dirty="0">
                <a:effectLst/>
                <a:latin typeface="Calibri" panose="020F0502020204030204" pitchFamily="34" charset="0"/>
                <a:ea typeface="Calibri" panose="020F0502020204030204" pitchFamily="34" charset="0"/>
                <a:cs typeface="Times New Roman" panose="02020603050405020304" pitchFamily="18" charset="0"/>
              </a:rPr>
              <a:t>The remaining 9 from the top 10 customers (ranked by number of products purchased) have purchased an average of 65,257 products / per customer</a:t>
            </a:r>
          </a:p>
          <a:p>
            <a:pPr marL="342900" lvl="0" indent="-342900">
              <a:lnSpc>
                <a:spcPct val="107000"/>
              </a:lnSpc>
              <a:spcAft>
                <a:spcPts val="800"/>
              </a:spcAft>
              <a:buFont typeface="Symbol" panose="05050102010706020507" pitchFamily="18" charset="2"/>
              <a:buChar char=""/>
            </a:pPr>
            <a:r>
              <a:rPr lang="en-GB" sz="1200" dirty="0">
                <a:effectLst/>
                <a:latin typeface="Calibri" panose="020F0502020204030204" pitchFamily="34" charset="0"/>
                <a:ea typeface="Calibri" panose="020F0502020204030204" pitchFamily="34" charset="0"/>
                <a:cs typeface="Times New Roman" panose="02020603050405020304" pitchFamily="18" charset="0"/>
              </a:rPr>
              <a:t>The average number of products purchased for all 4334 customers is 1,148 so this further highlights the importance of the top 10%</a:t>
            </a:r>
            <a:endParaRPr lang="en-GB" sz="2400" dirty="0"/>
          </a:p>
        </p:txBody>
      </p:sp>
      <p:sp>
        <p:nvSpPr>
          <p:cNvPr id="4" name="Date Placeholder 3">
            <a:extLst>
              <a:ext uri="{FF2B5EF4-FFF2-40B4-BE49-F238E27FC236}">
                <a16:creationId xmlns:a16="http://schemas.microsoft.com/office/drawing/2014/main" id="{BF54BB78-AD93-4876-BE4E-6D44A8FEC6DE}"/>
              </a:ext>
            </a:extLst>
          </p:cNvPr>
          <p:cNvSpPr>
            <a:spLocks noGrp="1"/>
          </p:cNvSpPr>
          <p:nvPr>
            <p:ph type="dt" sz="half" idx="10"/>
          </p:nvPr>
        </p:nvSpPr>
        <p:spPr/>
        <p:txBody>
          <a:bodyPr/>
          <a:lstStyle/>
          <a:p>
            <a:fld id="{08924206-F44D-4462-810D-AF753A0AB976}" type="datetime1">
              <a:rPr lang="en-US" smtClean="0"/>
              <a:t>7/29/2020</a:t>
            </a:fld>
            <a:endParaRPr lang="en-US" dirty="0"/>
          </a:p>
        </p:txBody>
      </p:sp>
      <p:sp>
        <p:nvSpPr>
          <p:cNvPr id="5" name="Footer Placeholder 4">
            <a:extLst>
              <a:ext uri="{FF2B5EF4-FFF2-40B4-BE49-F238E27FC236}">
                <a16:creationId xmlns:a16="http://schemas.microsoft.com/office/drawing/2014/main" id="{AE1E56DC-1666-48FE-9821-F7E18220037C}"/>
              </a:ext>
            </a:extLst>
          </p:cNvPr>
          <p:cNvSpPr>
            <a:spLocks noGrp="1"/>
          </p:cNvSpPr>
          <p:nvPr>
            <p:ph type="ftr" sz="quarter" idx="11"/>
          </p:nvPr>
        </p:nvSpPr>
        <p:spPr/>
        <p:txBody>
          <a:bodyPr/>
          <a:lstStyle/>
          <a:p>
            <a:r>
              <a:rPr lang="en-US"/>
              <a:t>Dr Dimitar Dimov - Data Analyst Candidate at LOR</a:t>
            </a:r>
            <a:endParaRPr lang="en-US" dirty="0"/>
          </a:p>
        </p:txBody>
      </p:sp>
      <p:sp>
        <p:nvSpPr>
          <p:cNvPr id="6" name="Slide Number Placeholder 5">
            <a:extLst>
              <a:ext uri="{FF2B5EF4-FFF2-40B4-BE49-F238E27FC236}">
                <a16:creationId xmlns:a16="http://schemas.microsoft.com/office/drawing/2014/main" id="{6B275B05-45F1-4236-A9D8-0A8A8C5D966B}"/>
              </a:ext>
            </a:extLst>
          </p:cNvPr>
          <p:cNvSpPr>
            <a:spLocks noGrp="1"/>
          </p:cNvSpPr>
          <p:nvPr>
            <p:ph type="sldNum" sz="quarter" idx="12"/>
          </p:nvPr>
        </p:nvSpPr>
        <p:spPr/>
        <p:txBody>
          <a:bodyPr/>
          <a:lstStyle/>
          <a:p>
            <a:fld id="{69E57DC2-970A-4B3E-BB1C-7A09969E49DF}" type="slidenum">
              <a:rPr lang="en-US" smtClean="0"/>
              <a:t>11</a:t>
            </a:fld>
            <a:endParaRPr lang="en-US" dirty="0"/>
          </a:p>
        </p:txBody>
      </p:sp>
      <p:sp>
        <p:nvSpPr>
          <p:cNvPr id="8" name="Title 1">
            <a:extLst>
              <a:ext uri="{FF2B5EF4-FFF2-40B4-BE49-F238E27FC236}">
                <a16:creationId xmlns:a16="http://schemas.microsoft.com/office/drawing/2014/main" id="{454C75EE-419C-43FA-8E13-5F2D224AD4E5}"/>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5</a:t>
            </a:r>
          </a:p>
        </p:txBody>
      </p:sp>
      <p:graphicFrame>
        <p:nvGraphicFramePr>
          <p:cNvPr id="10" name="Table 10">
            <a:extLst>
              <a:ext uri="{FF2B5EF4-FFF2-40B4-BE49-F238E27FC236}">
                <a16:creationId xmlns:a16="http://schemas.microsoft.com/office/drawing/2014/main" id="{A19DC9D7-7E9F-4324-BFAA-E107921D27AF}"/>
              </a:ext>
            </a:extLst>
          </p:cNvPr>
          <p:cNvGraphicFramePr>
            <a:graphicFrameLocks noGrp="1"/>
          </p:cNvGraphicFramePr>
          <p:nvPr>
            <p:extLst>
              <p:ext uri="{D42A27DB-BD31-4B8C-83A1-F6EECF244321}">
                <p14:modId xmlns:p14="http://schemas.microsoft.com/office/powerpoint/2010/main" val="819100325"/>
              </p:ext>
            </p:extLst>
          </p:nvPr>
        </p:nvGraphicFramePr>
        <p:xfrm>
          <a:off x="5921229" y="1853864"/>
          <a:ext cx="4899171" cy="1722120"/>
        </p:xfrm>
        <a:graphic>
          <a:graphicData uri="http://schemas.openxmlformats.org/drawingml/2006/table">
            <a:tbl>
              <a:tblPr firstRow="1" bandRow="1">
                <a:tableStyleId>{5C22544A-7EE6-4342-B048-85BDC9FD1C3A}</a:tableStyleId>
              </a:tblPr>
              <a:tblGrid>
                <a:gridCol w="2055303">
                  <a:extLst>
                    <a:ext uri="{9D8B030D-6E8A-4147-A177-3AD203B41FA5}">
                      <a16:colId xmlns:a16="http://schemas.microsoft.com/office/drawing/2014/main" val="3850246160"/>
                    </a:ext>
                  </a:extLst>
                </a:gridCol>
                <a:gridCol w="1417740">
                  <a:extLst>
                    <a:ext uri="{9D8B030D-6E8A-4147-A177-3AD203B41FA5}">
                      <a16:colId xmlns:a16="http://schemas.microsoft.com/office/drawing/2014/main" val="3020195471"/>
                    </a:ext>
                  </a:extLst>
                </a:gridCol>
                <a:gridCol w="1426128">
                  <a:extLst>
                    <a:ext uri="{9D8B030D-6E8A-4147-A177-3AD203B41FA5}">
                      <a16:colId xmlns:a16="http://schemas.microsoft.com/office/drawing/2014/main" val="3171458293"/>
                    </a:ext>
                  </a:extLst>
                </a:gridCol>
              </a:tblGrid>
              <a:tr h="253964">
                <a:tc>
                  <a:txBody>
                    <a:bodyPr/>
                    <a:lstStyle/>
                    <a:p>
                      <a:pPr algn="ctr"/>
                      <a:r>
                        <a:rPr lang="en-GB" sz="1100" dirty="0">
                          <a:latin typeface="Calibri" panose="020F0502020204030204" pitchFamily="34" charset="0"/>
                          <a:cs typeface="Calibri" panose="020F0502020204030204" pitchFamily="34" charset="0"/>
                        </a:rPr>
                        <a:t>Product Name</a:t>
                      </a:r>
                    </a:p>
                  </a:txBody>
                  <a:tcPr/>
                </a:tc>
                <a:tc>
                  <a:txBody>
                    <a:bodyPr/>
                    <a:lstStyle/>
                    <a:p>
                      <a:pPr algn="ctr"/>
                      <a:r>
                        <a:rPr lang="en-GB" sz="1100" dirty="0">
                          <a:latin typeface="Calibri" panose="020F0502020204030204" pitchFamily="34" charset="0"/>
                          <a:cs typeface="Calibri" panose="020F0502020204030204" pitchFamily="34" charset="0"/>
                        </a:rPr>
                        <a:t>Total Products Sold</a:t>
                      </a:r>
                    </a:p>
                  </a:txBody>
                  <a:tcPr/>
                </a:tc>
                <a:tc>
                  <a:txBody>
                    <a:bodyPr/>
                    <a:lstStyle/>
                    <a:p>
                      <a:pPr algn="ctr"/>
                      <a:r>
                        <a:rPr lang="en-GB" sz="1100" dirty="0">
                          <a:latin typeface="Calibri" panose="020F0502020204030204" pitchFamily="34" charset="0"/>
                          <a:cs typeface="Calibri" panose="020F0502020204030204" pitchFamily="34" charset="0"/>
                        </a:rPr>
                        <a:t>Total Revenue</a:t>
                      </a:r>
                    </a:p>
                  </a:txBody>
                  <a:tcPr anchor="ctr"/>
                </a:tc>
                <a:extLst>
                  <a:ext uri="{0D108BD9-81ED-4DB2-BD59-A6C34878D82A}">
                    <a16:rowId xmlns:a16="http://schemas.microsoft.com/office/drawing/2014/main" val="3593555827"/>
                  </a:ext>
                </a:extLst>
              </a:tr>
              <a:tr h="253964">
                <a:tc>
                  <a:txBody>
                    <a:bodyPr/>
                    <a:lstStyle/>
                    <a:p>
                      <a:pPr algn="ctr"/>
                      <a:r>
                        <a:rPr lang="en-GB" sz="1100" dirty="0">
                          <a:effectLst/>
                          <a:latin typeface="Calibri" panose="020F0502020204030204" pitchFamily="34" charset="0"/>
                          <a:ea typeface="Calibri" panose="020F0502020204030204" pitchFamily="34" charset="0"/>
                          <a:cs typeface="Calibri" panose="020F0502020204030204" pitchFamily="34" charset="0"/>
                        </a:rPr>
                        <a:t>REGENCY CAKESTAND 3 TIER </a:t>
                      </a:r>
                      <a:endParaRPr lang="en-GB" sz="1100" dirty="0">
                        <a:latin typeface="Calibri" panose="020F0502020204030204" pitchFamily="34" charset="0"/>
                        <a:cs typeface="Calibri" panose="020F0502020204030204" pitchFamily="34" charset="0"/>
                      </a:endParaRPr>
                    </a:p>
                  </a:txBody>
                  <a:tcPr/>
                </a:tc>
                <a:tc>
                  <a:txBody>
                    <a:bodyPr/>
                    <a:lstStyle/>
                    <a:p>
                      <a:pPr algn="ctr"/>
                      <a:r>
                        <a:rPr lang="en-GB" sz="1100" dirty="0">
                          <a:latin typeface="Calibri" panose="020F0502020204030204" pitchFamily="34" charset="0"/>
                          <a:cs typeface="Calibri" panose="020F0502020204030204" pitchFamily="34" charset="0"/>
                        </a:rPr>
                        <a:t>13,890</a:t>
                      </a:r>
                    </a:p>
                  </a:txBody>
                  <a:tcPr/>
                </a:tc>
                <a:tc>
                  <a:txBody>
                    <a:bodyPr/>
                    <a:lstStyle/>
                    <a:p>
                      <a:pPr algn="ctr"/>
                      <a:r>
                        <a:rPr lang="en-GB" sz="1100" dirty="0">
                          <a:latin typeface="Calibri" panose="020F0502020204030204" pitchFamily="34" charset="0"/>
                          <a:cs typeface="Calibri" panose="020F0502020204030204" pitchFamily="34" charset="0"/>
                        </a:rPr>
                        <a:t>£174,485</a:t>
                      </a:r>
                    </a:p>
                  </a:txBody>
                  <a:tcPr/>
                </a:tc>
                <a:extLst>
                  <a:ext uri="{0D108BD9-81ED-4DB2-BD59-A6C34878D82A}">
                    <a16:rowId xmlns:a16="http://schemas.microsoft.com/office/drawing/2014/main" val="3585301975"/>
                  </a:ext>
                </a:extLst>
              </a:tr>
              <a:tr h="301271">
                <a:tc>
                  <a:txBody>
                    <a:bodyPr/>
                    <a:lstStyle/>
                    <a:p>
                      <a:pPr algn="ctr"/>
                      <a:r>
                        <a:rPr lang="en-GB" sz="1100" dirty="0">
                          <a:effectLst/>
                          <a:latin typeface="Calibri" panose="020F0502020204030204" pitchFamily="34" charset="0"/>
                          <a:ea typeface="Calibri" panose="020F0502020204030204" pitchFamily="34" charset="0"/>
                          <a:cs typeface="Calibri" panose="020F0502020204030204" pitchFamily="34" charset="0"/>
                        </a:rPr>
                        <a:t>WHITE HANGING HEART T-LIGHT HOLDER</a:t>
                      </a:r>
                      <a:endParaRPr lang="en-GB" sz="1100" dirty="0">
                        <a:latin typeface="Calibri" panose="020F0502020204030204" pitchFamily="34" charset="0"/>
                        <a:cs typeface="Calibri" panose="020F0502020204030204" pitchFamily="34" charset="0"/>
                      </a:endParaRPr>
                    </a:p>
                  </a:txBody>
                  <a:tcPr/>
                </a:tc>
                <a:tc>
                  <a:txBody>
                    <a:bodyPr/>
                    <a:lstStyle/>
                    <a:p>
                      <a:pPr algn="ctr"/>
                      <a:r>
                        <a:rPr lang="en-GB" sz="1100" dirty="0">
                          <a:latin typeface="Calibri" panose="020F0502020204030204" pitchFamily="34" charset="0"/>
                          <a:cs typeface="Calibri" panose="020F0502020204030204" pitchFamily="34" charset="0"/>
                        </a:rPr>
                        <a:t>37,895</a:t>
                      </a:r>
                    </a:p>
                  </a:txBody>
                  <a:tcPr/>
                </a:tc>
                <a:tc>
                  <a:txBody>
                    <a:bodyPr/>
                    <a:lstStyle/>
                    <a:p>
                      <a:pPr algn="ctr"/>
                      <a:r>
                        <a:rPr lang="en-GB" sz="1100" dirty="0">
                          <a:latin typeface="Calibri" panose="020F0502020204030204" pitchFamily="34" charset="0"/>
                          <a:cs typeface="Calibri" panose="020F0502020204030204" pitchFamily="34" charset="0"/>
                        </a:rPr>
                        <a:t>£106,293</a:t>
                      </a:r>
                    </a:p>
                  </a:txBody>
                  <a:tcPr/>
                </a:tc>
                <a:extLst>
                  <a:ext uri="{0D108BD9-81ED-4DB2-BD59-A6C34878D82A}">
                    <a16:rowId xmlns:a16="http://schemas.microsoft.com/office/drawing/2014/main" val="2997675814"/>
                  </a:ext>
                </a:extLst>
              </a:tr>
              <a:tr h="253964">
                <a:tc>
                  <a:txBody>
                    <a:bodyPr/>
                    <a:lstStyle/>
                    <a:p>
                      <a:pPr algn="ctr"/>
                      <a:r>
                        <a:rPr lang="en-GB" sz="1100" dirty="0">
                          <a:effectLst/>
                          <a:latin typeface="Calibri" panose="020F0502020204030204" pitchFamily="34" charset="0"/>
                          <a:ea typeface="Calibri" panose="020F0502020204030204" pitchFamily="34" charset="0"/>
                          <a:cs typeface="Calibri" panose="020F0502020204030204" pitchFamily="34" charset="0"/>
                        </a:rPr>
                        <a:t>PARTY BUNTING</a:t>
                      </a:r>
                      <a:endParaRPr lang="en-GB" sz="1100" dirty="0">
                        <a:latin typeface="Calibri" panose="020F0502020204030204" pitchFamily="34" charset="0"/>
                        <a:cs typeface="Calibri" panose="020F0502020204030204" pitchFamily="34" charset="0"/>
                      </a:endParaRPr>
                    </a:p>
                  </a:txBody>
                  <a:tcPr/>
                </a:tc>
                <a:tc>
                  <a:txBody>
                    <a:bodyPr/>
                    <a:lstStyle/>
                    <a:p>
                      <a:pPr algn="ctr"/>
                      <a:r>
                        <a:rPr lang="en-GB" sz="1100" dirty="0">
                          <a:latin typeface="Calibri" panose="020F0502020204030204" pitchFamily="34" charset="0"/>
                          <a:cs typeface="Calibri" panose="020F0502020204030204" pitchFamily="34" charset="0"/>
                        </a:rPr>
                        <a:t>18,299</a:t>
                      </a:r>
                    </a:p>
                  </a:txBody>
                  <a:tcPr/>
                </a:tc>
                <a:tc>
                  <a:txBody>
                    <a:bodyPr/>
                    <a:lstStyle/>
                    <a:p>
                      <a:pPr algn="ctr"/>
                      <a:r>
                        <a:rPr lang="en-GB" sz="1100" dirty="0">
                          <a:latin typeface="Calibri" panose="020F0502020204030204" pitchFamily="34" charset="0"/>
                          <a:cs typeface="Calibri" panose="020F0502020204030204" pitchFamily="34" charset="0"/>
                        </a:rPr>
                        <a:t>£99,504</a:t>
                      </a:r>
                    </a:p>
                  </a:txBody>
                  <a:tcPr/>
                </a:tc>
                <a:extLst>
                  <a:ext uri="{0D108BD9-81ED-4DB2-BD59-A6C34878D82A}">
                    <a16:rowId xmlns:a16="http://schemas.microsoft.com/office/drawing/2014/main" val="1370336518"/>
                  </a:ext>
                </a:extLst>
              </a:tr>
              <a:tr h="253964">
                <a:tc>
                  <a:txBody>
                    <a:bodyPr/>
                    <a:lstStyle/>
                    <a:p>
                      <a:pPr algn="ctr"/>
                      <a:r>
                        <a:rPr lang="en-GB" sz="1100" dirty="0">
                          <a:effectLst/>
                          <a:latin typeface="Calibri" panose="020F0502020204030204" pitchFamily="34" charset="0"/>
                          <a:ea typeface="Calibri" panose="020F0502020204030204" pitchFamily="34" charset="0"/>
                          <a:cs typeface="Calibri" panose="020F0502020204030204" pitchFamily="34" charset="0"/>
                        </a:rPr>
                        <a:t>JUMBO BAG RED RETROSPOT</a:t>
                      </a:r>
                      <a:endParaRPr lang="en-GB" sz="1100" dirty="0">
                        <a:latin typeface="Calibri" panose="020F0502020204030204" pitchFamily="34" charset="0"/>
                        <a:cs typeface="Calibri" panose="020F0502020204030204" pitchFamily="34" charset="0"/>
                      </a:endParaRPr>
                    </a:p>
                  </a:txBody>
                  <a:tcPr/>
                </a:tc>
                <a:tc>
                  <a:txBody>
                    <a:bodyPr/>
                    <a:lstStyle/>
                    <a:p>
                      <a:pPr algn="ctr"/>
                      <a:r>
                        <a:rPr lang="en-GB" sz="1100" dirty="0">
                          <a:latin typeface="Calibri" panose="020F0502020204030204" pitchFamily="34" charset="0"/>
                          <a:cs typeface="Calibri" panose="020F0502020204030204" pitchFamily="34" charset="0"/>
                        </a:rPr>
                        <a:t>48,478</a:t>
                      </a:r>
                    </a:p>
                  </a:txBody>
                  <a:tcPr/>
                </a:tc>
                <a:tc>
                  <a:txBody>
                    <a:bodyPr/>
                    <a:lstStyle/>
                    <a:p>
                      <a:pPr algn="ctr"/>
                      <a:r>
                        <a:rPr lang="en-GB" sz="1100" dirty="0">
                          <a:latin typeface="Calibri" panose="020F0502020204030204" pitchFamily="34" charset="0"/>
                          <a:cs typeface="Calibri" panose="020F0502020204030204" pitchFamily="34" charset="0"/>
                        </a:rPr>
                        <a:t>£94,340</a:t>
                      </a:r>
                    </a:p>
                  </a:txBody>
                  <a:tcPr/>
                </a:tc>
                <a:extLst>
                  <a:ext uri="{0D108BD9-81ED-4DB2-BD59-A6C34878D82A}">
                    <a16:rowId xmlns:a16="http://schemas.microsoft.com/office/drawing/2014/main" val="2106453011"/>
                  </a:ext>
                </a:extLst>
              </a:tr>
              <a:tr h="253964">
                <a:tc>
                  <a:txBody>
                    <a:bodyPr/>
                    <a:lstStyle/>
                    <a:p>
                      <a:pPr algn="ctr"/>
                      <a:r>
                        <a:rPr lang="en-GB" sz="1100" dirty="0">
                          <a:effectLst/>
                          <a:latin typeface="Calibri" panose="020F0502020204030204" pitchFamily="34" charset="0"/>
                          <a:ea typeface="Calibri" panose="020F0502020204030204" pitchFamily="34" charset="0"/>
                          <a:cs typeface="Calibri" panose="020F0502020204030204" pitchFamily="34" charset="0"/>
                        </a:rPr>
                        <a:t>RABBIT NIGHT LIGHT</a:t>
                      </a:r>
                      <a:endParaRPr lang="en-GB" sz="1100" dirty="0">
                        <a:latin typeface="Calibri" panose="020F0502020204030204" pitchFamily="34" charset="0"/>
                        <a:cs typeface="Calibri" panose="020F0502020204030204" pitchFamily="34" charset="0"/>
                      </a:endParaRPr>
                    </a:p>
                  </a:txBody>
                  <a:tcPr/>
                </a:tc>
                <a:tc>
                  <a:txBody>
                    <a:bodyPr/>
                    <a:lstStyle/>
                    <a:p>
                      <a:pPr algn="ctr"/>
                      <a:r>
                        <a:rPr lang="en-GB" sz="1100" dirty="0">
                          <a:latin typeface="Calibri" panose="020F0502020204030204" pitchFamily="34" charset="0"/>
                          <a:cs typeface="Calibri" panose="020F0502020204030204" pitchFamily="34" charset="0"/>
                        </a:rPr>
                        <a:t>30,788</a:t>
                      </a:r>
                    </a:p>
                  </a:txBody>
                  <a:tcPr/>
                </a:tc>
                <a:tc>
                  <a:txBody>
                    <a:bodyPr/>
                    <a:lstStyle/>
                    <a:p>
                      <a:pPr algn="ctr"/>
                      <a:r>
                        <a:rPr lang="en-GB" sz="1100" dirty="0">
                          <a:latin typeface="Calibri" panose="020F0502020204030204" pitchFamily="34" charset="0"/>
                          <a:cs typeface="Calibri" panose="020F0502020204030204" pitchFamily="34" charset="0"/>
                        </a:rPr>
                        <a:t>£66,964</a:t>
                      </a:r>
                    </a:p>
                  </a:txBody>
                  <a:tcPr/>
                </a:tc>
                <a:extLst>
                  <a:ext uri="{0D108BD9-81ED-4DB2-BD59-A6C34878D82A}">
                    <a16:rowId xmlns:a16="http://schemas.microsoft.com/office/drawing/2014/main" val="2748943966"/>
                  </a:ext>
                </a:extLst>
              </a:tr>
            </a:tbl>
          </a:graphicData>
        </a:graphic>
      </p:graphicFrame>
      <p:sp>
        <p:nvSpPr>
          <p:cNvPr id="11" name="TextBox 10">
            <a:extLst>
              <a:ext uri="{FF2B5EF4-FFF2-40B4-BE49-F238E27FC236}">
                <a16:creationId xmlns:a16="http://schemas.microsoft.com/office/drawing/2014/main" id="{03EA9655-ADD4-4296-A7D3-6781E20BAF04}"/>
              </a:ext>
            </a:extLst>
          </p:cNvPr>
          <p:cNvSpPr txBox="1"/>
          <p:nvPr/>
        </p:nvSpPr>
        <p:spPr>
          <a:xfrm>
            <a:off x="5890104" y="1471667"/>
            <a:ext cx="3652007" cy="307777"/>
          </a:xfrm>
          <a:prstGeom prst="rect">
            <a:avLst/>
          </a:prstGeom>
          <a:noFill/>
        </p:spPr>
        <p:txBody>
          <a:bodyPr wrap="square" rtlCol="0">
            <a:spAutoFit/>
          </a:bodyPr>
          <a:lstStyle/>
          <a:p>
            <a:r>
              <a:rPr lang="en-GB" sz="1400" dirty="0">
                <a:latin typeface="Calibri" panose="020F0502020204030204" pitchFamily="34" charset="0"/>
                <a:cs typeface="Calibri" panose="020F0502020204030204" pitchFamily="34" charset="0"/>
              </a:rPr>
              <a:t>Products which generated the highest revenue:</a:t>
            </a:r>
          </a:p>
        </p:txBody>
      </p:sp>
    </p:spTree>
    <p:extLst>
      <p:ext uri="{BB962C8B-B14F-4D97-AF65-F5344CB8AC3E}">
        <p14:creationId xmlns:p14="http://schemas.microsoft.com/office/powerpoint/2010/main" val="492101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6FC537-E8FB-4D66-84D3-800C87DD270D}"/>
              </a:ext>
            </a:extLst>
          </p:cNvPr>
          <p:cNvSpPr>
            <a:spLocks noGrp="1"/>
          </p:cNvSpPr>
          <p:nvPr>
            <p:ph idx="1"/>
          </p:nvPr>
        </p:nvSpPr>
        <p:spPr>
          <a:xfrm>
            <a:off x="1371600" y="1451309"/>
            <a:ext cx="9601200" cy="3955382"/>
          </a:xfrm>
        </p:spPr>
        <p:txBody>
          <a:bodyPr>
            <a:normAutofit/>
          </a:bodyPr>
          <a:lstStyle/>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Everything related to communications skills. </a:t>
            </a: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Doing the entire data analytics cycle would lose its true value if you can’t present it well to the key stakeholders, both internal and external. </a:t>
            </a: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The delivery and presentation of your work is key for success – the way you present your data, the way you articulate your findings, the way you answer the questions from the audience and consequent logical arguments to support your key statements – that’s what this technical assessment can’t assess and I strongly believe is a very important skill set of every Data / Business Intelligence Analyst. </a:t>
            </a:r>
          </a:p>
          <a:p>
            <a:pPr marL="0" indent="0">
              <a:buNone/>
            </a:pPr>
            <a:r>
              <a:rPr lang="en-GB" sz="1400" dirty="0">
                <a:latin typeface="Calibri" panose="020F0502020204030204" pitchFamily="34" charset="0"/>
                <a:cs typeface="Calibri" panose="020F0502020204030204" pitchFamily="34" charset="0"/>
              </a:rPr>
              <a:t>Another important skill not demonstrated through this assessment is team work – had I done this analysis in the office with my colleagues, I would’ve interacted a lot with the data architect, the data scientist, would’ve bounced off ideas with my managers and would’ve had informal conversations with any colleague who frequently purchases online (I myself am not a big online shopper) </a:t>
            </a:r>
          </a:p>
          <a:p>
            <a:pPr marL="0" indent="0">
              <a:buNone/>
            </a:pPr>
            <a:r>
              <a:rPr lang="en-GB" sz="1400" dirty="0">
                <a:latin typeface="Calibri" panose="020F0502020204030204" pitchFamily="34" charset="0"/>
                <a:cs typeface="Calibri" panose="020F0502020204030204" pitchFamily="34" charset="0"/>
              </a:rPr>
              <a:t>The latter is crucial for me to understand what the customers like and dislike from their e-shopping experience which information I will then use as recommendations to my retail client (or set target KPIs) </a:t>
            </a:r>
          </a:p>
        </p:txBody>
      </p:sp>
      <p:sp>
        <p:nvSpPr>
          <p:cNvPr id="4" name="Date Placeholder 3">
            <a:extLst>
              <a:ext uri="{FF2B5EF4-FFF2-40B4-BE49-F238E27FC236}">
                <a16:creationId xmlns:a16="http://schemas.microsoft.com/office/drawing/2014/main" id="{99592612-2F9A-4885-AF2A-853044FE7227}"/>
              </a:ext>
            </a:extLst>
          </p:cNvPr>
          <p:cNvSpPr>
            <a:spLocks noGrp="1"/>
          </p:cNvSpPr>
          <p:nvPr>
            <p:ph type="dt" sz="half" idx="10"/>
          </p:nvPr>
        </p:nvSpPr>
        <p:spPr/>
        <p:txBody>
          <a:bodyPr/>
          <a:lstStyle/>
          <a:p>
            <a:fld id="{907FC1BA-60C3-4BA4-964D-041B6CF43655}" type="datetime1">
              <a:rPr lang="en-US" smtClean="0"/>
              <a:t>7/29/2020</a:t>
            </a:fld>
            <a:endParaRPr lang="en-US" dirty="0"/>
          </a:p>
        </p:txBody>
      </p:sp>
      <p:sp>
        <p:nvSpPr>
          <p:cNvPr id="5" name="Footer Placeholder 4">
            <a:extLst>
              <a:ext uri="{FF2B5EF4-FFF2-40B4-BE49-F238E27FC236}">
                <a16:creationId xmlns:a16="http://schemas.microsoft.com/office/drawing/2014/main" id="{4592B193-67F3-4592-8318-E22B9060337F}"/>
              </a:ext>
            </a:extLst>
          </p:cNvPr>
          <p:cNvSpPr>
            <a:spLocks noGrp="1"/>
          </p:cNvSpPr>
          <p:nvPr>
            <p:ph type="ftr" sz="quarter" idx="11"/>
          </p:nvPr>
        </p:nvSpPr>
        <p:spPr/>
        <p:txBody>
          <a:bodyPr/>
          <a:lstStyle/>
          <a:p>
            <a:r>
              <a:rPr lang="en-US"/>
              <a:t>Dr Dimitar Dimov - Data Analyst Candidate at LOR</a:t>
            </a:r>
            <a:endParaRPr lang="en-US" dirty="0"/>
          </a:p>
        </p:txBody>
      </p:sp>
      <p:sp>
        <p:nvSpPr>
          <p:cNvPr id="6" name="Slide Number Placeholder 5">
            <a:extLst>
              <a:ext uri="{FF2B5EF4-FFF2-40B4-BE49-F238E27FC236}">
                <a16:creationId xmlns:a16="http://schemas.microsoft.com/office/drawing/2014/main" id="{6D865F0E-CD77-4A14-B2D2-39FC16A8CE8F}"/>
              </a:ext>
            </a:extLst>
          </p:cNvPr>
          <p:cNvSpPr>
            <a:spLocks noGrp="1"/>
          </p:cNvSpPr>
          <p:nvPr>
            <p:ph type="sldNum" sz="quarter" idx="12"/>
          </p:nvPr>
        </p:nvSpPr>
        <p:spPr/>
        <p:txBody>
          <a:bodyPr/>
          <a:lstStyle/>
          <a:p>
            <a:fld id="{69E57DC2-970A-4B3E-BB1C-7A09969E49DF}" type="slidenum">
              <a:rPr lang="en-US" smtClean="0"/>
              <a:t>12</a:t>
            </a:fld>
            <a:endParaRPr lang="en-US" dirty="0"/>
          </a:p>
        </p:txBody>
      </p:sp>
      <p:sp>
        <p:nvSpPr>
          <p:cNvPr id="8" name="Title 1">
            <a:extLst>
              <a:ext uri="{FF2B5EF4-FFF2-40B4-BE49-F238E27FC236}">
                <a16:creationId xmlns:a16="http://schemas.microsoft.com/office/drawing/2014/main" id="{53351A59-6CBC-486D-978D-2AE6A640C94E}"/>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6</a:t>
            </a:r>
          </a:p>
        </p:txBody>
      </p:sp>
    </p:spTree>
    <p:extLst>
      <p:ext uri="{BB962C8B-B14F-4D97-AF65-F5344CB8AC3E}">
        <p14:creationId xmlns:p14="http://schemas.microsoft.com/office/powerpoint/2010/main" val="3972087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4EDB03-E2F7-4C65-AD43-FD590D3D2E3F}"/>
              </a:ext>
            </a:extLst>
          </p:cNvPr>
          <p:cNvSpPr>
            <a:spLocks noGrp="1"/>
          </p:cNvSpPr>
          <p:nvPr>
            <p:ph idx="1"/>
          </p:nvPr>
        </p:nvSpPr>
        <p:spPr>
          <a:xfrm>
            <a:off x="1371600" y="1411705"/>
            <a:ext cx="9601200" cy="4760495"/>
          </a:xfrm>
        </p:spPr>
        <p:txBody>
          <a:bodyPr>
            <a:normAutofit lnSpcReduction="10000"/>
          </a:bodyPr>
          <a:lstStyle/>
          <a:p>
            <a:pPr marL="0" indent="0">
              <a:lnSpc>
                <a:spcPct val="107000"/>
              </a:lnSpc>
              <a:spcAft>
                <a:spcPts val="800"/>
              </a:spcAft>
              <a:buNone/>
            </a:pPr>
            <a:r>
              <a:rPr lang="en-GB" sz="1400" dirty="0">
                <a:latin typeface="Calibri" panose="020F0502020204030204" pitchFamily="34" charset="0"/>
                <a:ea typeface="Calibri" panose="020F0502020204030204" pitchFamily="34" charset="0"/>
                <a:cs typeface="Times New Roman" panose="02020603050405020304" pitchFamily="18" charset="0"/>
              </a:rPr>
              <a:t>I would </a:t>
            </a:r>
            <a:r>
              <a:rPr lang="en-GB" sz="1400" dirty="0">
                <a:effectLst/>
                <a:latin typeface="Calibri" panose="020F0502020204030204" pitchFamily="34" charset="0"/>
                <a:ea typeface="Calibri" panose="020F0502020204030204" pitchFamily="34" charset="0"/>
                <a:cs typeface="Times New Roman" panose="02020603050405020304" pitchFamily="18" charset="0"/>
              </a:rPr>
              <a:t>like to start by stating the definition of key performance indicators (KPIs) – a measurable value that demonstrates how effectively a company is achieving key business objectives. Organisations use KPIs to measure their success at reaching targets. </a:t>
            </a: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So, if we deconstruct this, the most important first step, prior to discussing the approach for effective design, is to understand that KPIs are form of communication. When we design a strategy, we need to understand what the organisational objectives are and how are we going to achieve them. Every KPI should be related to a specific business outcome with a performance measure. </a:t>
            </a: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If we take the Online Retail database for example and put ourselves in the shoes of the Retail owner, we can define our goal as Increase Sales or Sales Growth. Then, we have to come up with specific KPIs which can quantitatively measure the performance. For example:</a:t>
            </a:r>
          </a:p>
          <a:p>
            <a:pPr marL="873252" lvl="1" indent="-342900">
              <a:lnSpc>
                <a:spcPct val="107000"/>
              </a:lnSpc>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To increase sales by 10% this year</a:t>
            </a:r>
          </a:p>
          <a:p>
            <a:pPr marL="873252" lvl="1" indent="-342900">
              <a:lnSpc>
                <a:spcPct val="107000"/>
              </a:lnSpc>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The Sales department team – should take the lead and report back to the wider business on a monthly basis</a:t>
            </a:r>
          </a:p>
          <a:p>
            <a:pPr marL="873252" lvl="1" indent="-342900">
              <a:lnSpc>
                <a:spcPct val="107000"/>
              </a:lnSpc>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Hire additional sales staff</a:t>
            </a:r>
          </a:p>
          <a:p>
            <a:pPr marL="873252" lvl="1" indent="-342900">
              <a:lnSpc>
                <a:spcPct val="107000"/>
              </a:lnSpc>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Will review this target on a quarterly basis</a:t>
            </a:r>
          </a:p>
          <a:p>
            <a:pPr marL="873252" lvl="1" indent="-342900">
              <a:lnSpc>
                <a:spcPct val="107000"/>
              </a:lnSpc>
              <a:spcAft>
                <a:spcPts val="800"/>
              </a:spcAft>
              <a:buFont typeface="Symbol" panose="05050102010706020507" pitchFamily="18" charset="2"/>
              <a:buChar char=""/>
            </a:pPr>
            <a:r>
              <a:rPr lang="en-GB" sz="1400" dirty="0">
                <a:effectLst/>
                <a:latin typeface="Calibri" panose="020F0502020204030204" pitchFamily="34" charset="0"/>
                <a:ea typeface="Calibri" panose="020F0502020204030204" pitchFamily="34" charset="0"/>
                <a:cs typeface="Times New Roman" panose="02020603050405020304" pitchFamily="18" charset="0"/>
              </a:rPr>
              <a:t>Progress will be measured as an increase in revenue measured in pounds spent </a:t>
            </a:r>
          </a:p>
          <a:p>
            <a:pPr marL="0" indent="0">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The approach that I would </a:t>
            </a:r>
            <a:r>
              <a:rPr lang="en-US" sz="1400" dirty="0">
                <a:effectLst/>
                <a:latin typeface="Calibri" panose="020F0502020204030204" pitchFamily="34" charset="0"/>
                <a:ea typeface="Calibri" panose="020F0502020204030204" pitchFamily="34" charset="0"/>
                <a:cs typeface="Times New Roman" panose="02020603050405020304" pitchFamily="18" charset="0"/>
              </a:rPr>
              <a:t>take when defining the KPIs is to always communicate with the wider team of stakeholders, both internally and externally, to understand and define our goals and then design a set of criteria points which can measure the performance of achieving these goals. </a:t>
            </a:r>
            <a:endParaRPr lang="en-GB" sz="1600" dirty="0"/>
          </a:p>
        </p:txBody>
      </p:sp>
      <p:sp>
        <p:nvSpPr>
          <p:cNvPr id="4" name="Date Placeholder 3">
            <a:extLst>
              <a:ext uri="{FF2B5EF4-FFF2-40B4-BE49-F238E27FC236}">
                <a16:creationId xmlns:a16="http://schemas.microsoft.com/office/drawing/2014/main" id="{877A0286-5363-4F34-8C22-426217CDB7D3}"/>
              </a:ext>
            </a:extLst>
          </p:cNvPr>
          <p:cNvSpPr>
            <a:spLocks noGrp="1"/>
          </p:cNvSpPr>
          <p:nvPr>
            <p:ph type="dt" sz="half" idx="10"/>
          </p:nvPr>
        </p:nvSpPr>
        <p:spPr/>
        <p:txBody>
          <a:bodyPr/>
          <a:lstStyle/>
          <a:p>
            <a:fld id="{4E5621C7-D965-4360-8886-150E013BAB6F}" type="datetime1">
              <a:rPr lang="en-US" smtClean="0"/>
              <a:t>7/29/2020</a:t>
            </a:fld>
            <a:endParaRPr lang="en-US" dirty="0"/>
          </a:p>
        </p:txBody>
      </p:sp>
      <p:sp>
        <p:nvSpPr>
          <p:cNvPr id="5" name="Footer Placeholder 4">
            <a:extLst>
              <a:ext uri="{FF2B5EF4-FFF2-40B4-BE49-F238E27FC236}">
                <a16:creationId xmlns:a16="http://schemas.microsoft.com/office/drawing/2014/main" id="{F31862C3-12D4-4A2A-811F-768B28761D74}"/>
              </a:ext>
            </a:extLst>
          </p:cNvPr>
          <p:cNvSpPr>
            <a:spLocks noGrp="1"/>
          </p:cNvSpPr>
          <p:nvPr>
            <p:ph type="ftr" sz="quarter" idx="11"/>
          </p:nvPr>
        </p:nvSpPr>
        <p:spPr/>
        <p:txBody>
          <a:bodyPr/>
          <a:lstStyle/>
          <a:p>
            <a:r>
              <a:rPr lang="en-US"/>
              <a:t>Dr Dimitar Dimov - Data Analyst Candidate at LOR</a:t>
            </a:r>
            <a:endParaRPr lang="en-US" dirty="0"/>
          </a:p>
        </p:txBody>
      </p:sp>
      <p:sp>
        <p:nvSpPr>
          <p:cNvPr id="6" name="Slide Number Placeholder 5">
            <a:extLst>
              <a:ext uri="{FF2B5EF4-FFF2-40B4-BE49-F238E27FC236}">
                <a16:creationId xmlns:a16="http://schemas.microsoft.com/office/drawing/2014/main" id="{362576BC-FEF4-477B-9C77-0923C1DECA25}"/>
              </a:ext>
            </a:extLst>
          </p:cNvPr>
          <p:cNvSpPr>
            <a:spLocks noGrp="1"/>
          </p:cNvSpPr>
          <p:nvPr>
            <p:ph type="sldNum" sz="quarter" idx="12"/>
          </p:nvPr>
        </p:nvSpPr>
        <p:spPr/>
        <p:txBody>
          <a:bodyPr/>
          <a:lstStyle/>
          <a:p>
            <a:fld id="{69E57DC2-970A-4B3E-BB1C-7A09969E49DF}" type="slidenum">
              <a:rPr lang="en-US" smtClean="0"/>
              <a:t>13</a:t>
            </a:fld>
            <a:endParaRPr lang="en-US" dirty="0"/>
          </a:p>
        </p:txBody>
      </p:sp>
      <p:sp>
        <p:nvSpPr>
          <p:cNvPr id="8" name="Title 1">
            <a:extLst>
              <a:ext uri="{FF2B5EF4-FFF2-40B4-BE49-F238E27FC236}">
                <a16:creationId xmlns:a16="http://schemas.microsoft.com/office/drawing/2014/main" id="{8EF67C74-736F-4D35-9FB7-14F8D2B913FD}"/>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7</a:t>
            </a:r>
          </a:p>
        </p:txBody>
      </p:sp>
    </p:spTree>
    <p:extLst>
      <p:ext uri="{BB962C8B-B14F-4D97-AF65-F5344CB8AC3E}">
        <p14:creationId xmlns:p14="http://schemas.microsoft.com/office/powerpoint/2010/main" val="765980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13293E-0058-4718-982D-7A2C4907415F}"/>
              </a:ext>
            </a:extLst>
          </p:cNvPr>
          <p:cNvSpPr>
            <a:spLocks noGrp="1"/>
          </p:cNvSpPr>
          <p:nvPr>
            <p:ph idx="1"/>
          </p:nvPr>
        </p:nvSpPr>
        <p:spPr>
          <a:xfrm>
            <a:off x="1371600" y="1411705"/>
            <a:ext cx="9601200" cy="4913594"/>
          </a:xfrm>
        </p:spPr>
        <p:txBody>
          <a:bodyPr>
            <a:normAutofit fontScale="92500" lnSpcReduction="10000"/>
          </a:bodyPr>
          <a:lstStyle/>
          <a:p>
            <a:pPr marL="0" indent="0">
              <a:lnSpc>
                <a:spcPct val="107000"/>
              </a:lnSpc>
              <a:spcAft>
                <a:spcPts val="800"/>
              </a:spcAft>
              <a:buNone/>
            </a:pPr>
            <a:r>
              <a:rPr lang="en-GB" sz="1300" dirty="0">
                <a:latin typeface="Calibri" panose="020F0502020204030204" pitchFamily="34" charset="0"/>
                <a:ea typeface="Calibri" panose="020F0502020204030204" pitchFamily="34" charset="0"/>
                <a:cs typeface="Times New Roman" panose="02020603050405020304" pitchFamily="18" charset="0"/>
              </a:rPr>
              <a:t>L</a:t>
            </a:r>
            <a:r>
              <a:rPr lang="en-GB" sz="1300" dirty="0">
                <a:effectLst/>
                <a:latin typeface="Calibri" panose="020F0502020204030204" pitchFamily="34" charset="0"/>
                <a:ea typeface="Calibri" panose="020F0502020204030204" pitchFamily="34" charset="0"/>
                <a:cs typeface="Times New Roman" panose="02020603050405020304" pitchFamily="18" charset="0"/>
              </a:rPr>
              <a:t>inear regression (LR) is a predictive analytics tool / technique which uses one or more independent variables to predict the outcome of a dependent variable. The approach I would take when validating a linear regression: First, I will split the original data at 80-20% where 80% will be for training the LR model and 20% will be used for testing, where I will apply the LR model and predict real values. The next step will be to calculate the mean squared or mean absolute errors of both the training and testing data and compare the scores. The lower the values, the better the fitting was (</a:t>
            </a:r>
            <a:r>
              <a:rPr lang="en-GB" sz="1300" dirty="0" err="1">
                <a:effectLst/>
                <a:latin typeface="Calibri" panose="020F0502020204030204" pitchFamily="34" charset="0"/>
                <a:ea typeface="Calibri" panose="020F0502020204030204" pitchFamily="34" charset="0"/>
                <a:cs typeface="Times New Roman" panose="02020603050405020304" pitchFamily="18" charset="0"/>
              </a:rPr>
              <a:t>ie</a:t>
            </a:r>
            <a:r>
              <a:rPr lang="en-GB" sz="1300" dirty="0">
                <a:effectLst/>
                <a:latin typeface="Calibri" panose="020F0502020204030204" pitchFamily="34" charset="0"/>
                <a:ea typeface="Calibri" panose="020F0502020204030204" pitchFamily="34" charset="0"/>
                <a:cs typeface="Times New Roman" panose="02020603050405020304" pitchFamily="18" charset="0"/>
              </a:rPr>
              <a:t> the dependent variables are as close to the independent as possible)  </a:t>
            </a:r>
          </a:p>
          <a:p>
            <a:pPr marL="0" indent="0">
              <a:lnSpc>
                <a:spcPct val="107000"/>
              </a:lnSpc>
              <a:spcAft>
                <a:spcPts val="800"/>
              </a:spcAft>
              <a:buNone/>
            </a:pPr>
            <a:r>
              <a:rPr lang="en-GB" sz="1300" u="sng" dirty="0">
                <a:effectLst/>
                <a:latin typeface="Calibri" panose="020F0502020204030204" pitchFamily="34" charset="0"/>
                <a:ea typeface="Calibri" panose="020F0502020204030204" pitchFamily="34" charset="0"/>
                <a:cs typeface="Times New Roman" panose="02020603050405020304" pitchFamily="18" charset="0"/>
              </a:rPr>
              <a:t>MSE </a:t>
            </a:r>
            <a:r>
              <a:rPr lang="en-GB" sz="1300" dirty="0">
                <a:effectLst/>
                <a:latin typeface="Calibri" panose="020F0502020204030204" pitchFamily="34" charset="0"/>
                <a:ea typeface="Calibri" panose="020F0502020204030204" pitchFamily="34" charset="0"/>
                <a:cs typeface="Times New Roman" panose="02020603050405020304" pitchFamily="18" charset="0"/>
              </a:rPr>
              <a:t>– mean squared error or mean squared deviation – measures the average squared difference between the estimated values and the actual value. Always non-negative (since it is a square) so the smaller the number the better (in terms of evaluating the quality of the fitted line) </a:t>
            </a:r>
          </a:p>
          <a:p>
            <a:pPr marL="0" indent="0">
              <a:lnSpc>
                <a:spcPct val="107000"/>
              </a:lnSpc>
              <a:spcAft>
                <a:spcPts val="800"/>
              </a:spcAft>
              <a:buNone/>
            </a:pPr>
            <a:r>
              <a:rPr lang="en-GB" sz="1200" dirty="0">
                <a:effectLst/>
                <a:latin typeface="Calibri" panose="020F0502020204030204" pitchFamily="34" charset="0"/>
                <a:ea typeface="Calibri" panose="020F0502020204030204" pitchFamily="34" charset="0"/>
                <a:cs typeface="Times New Roman" panose="02020603050405020304" pitchFamily="18" charset="0"/>
              </a:rPr>
              <a:t>The </a:t>
            </a:r>
            <a:r>
              <a:rPr lang="en-GB" sz="1200" b="1" dirty="0">
                <a:effectLst/>
                <a:latin typeface="Calibri" panose="020F0502020204030204" pitchFamily="34" charset="0"/>
                <a:ea typeface="Calibri" panose="020F0502020204030204" pitchFamily="34" charset="0"/>
                <a:cs typeface="Times New Roman" panose="02020603050405020304" pitchFamily="18" charset="0"/>
              </a:rPr>
              <a:t>pros of MSE are:</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p>
            <a:pPr marL="873252" lvl="1" indent="-342900">
              <a:lnSpc>
                <a:spcPct val="107000"/>
              </a:lnSpc>
              <a:buFont typeface="Symbol" panose="05050102010706020507" pitchFamily="18" charset="2"/>
              <a:buChar char=""/>
            </a:pPr>
            <a:r>
              <a:rPr lang="en-GB" sz="1200" dirty="0">
                <a:effectLst/>
                <a:latin typeface="Calibri" panose="020F0502020204030204" pitchFamily="34" charset="0"/>
                <a:ea typeface="Calibri" panose="020F0502020204030204" pitchFamily="34" charset="0"/>
                <a:cs typeface="Times New Roman" panose="02020603050405020304" pitchFamily="18" charset="0"/>
              </a:rPr>
              <a:t>Due to its simplicity, it is parameter free and inexpensive to compute</a:t>
            </a:r>
          </a:p>
          <a:p>
            <a:pPr marL="873252" lvl="1" indent="-342900">
              <a:lnSpc>
                <a:spcPct val="107000"/>
              </a:lnSpc>
              <a:buFont typeface="Symbol" panose="05050102010706020507" pitchFamily="18" charset="2"/>
              <a:buChar char=""/>
            </a:pPr>
            <a:r>
              <a:rPr lang="en-GB" sz="1200" dirty="0">
                <a:effectLst/>
                <a:latin typeface="Calibri" panose="020F0502020204030204" pitchFamily="34" charset="0"/>
                <a:ea typeface="Calibri" panose="020F0502020204030204" pitchFamily="34" charset="0"/>
                <a:cs typeface="Times New Roman" panose="02020603050405020304" pitchFamily="18" charset="0"/>
              </a:rPr>
              <a:t>Does not require memory allocation – the squared error is evaluated at each sample, independent of other samples</a:t>
            </a:r>
          </a:p>
          <a:p>
            <a:pPr marL="873252" lvl="1" indent="-342900">
              <a:lnSpc>
                <a:spcPct val="107000"/>
              </a:lnSpc>
              <a:spcAft>
                <a:spcPts val="800"/>
              </a:spcAft>
              <a:buFont typeface="Symbol" panose="05050102010706020507" pitchFamily="18" charset="2"/>
              <a:buChar char=""/>
            </a:pPr>
            <a:r>
              <a:rPr lang="en-GB" sz="1200" dirty="0">
                <a:effectLst/>
                <a:latin typeface="Calibri" panose="020F0502020204030204" pitchFamily="34" charset="0"/>
                <a:ea typeface="Calibri" panose="020F0502020204030204" pitchFamily="34" charset="0"/>
                <a:cs typeface="Times New Roman" panose="02020603050405020304" pitchFamily="18" charset="0"/>
              </a:rPr>
              <a:t>It provides a consistent comparison due to its nonnegativity </a:t>
            </a:r>
          </a:p>
          <a:p>
            <a:pPr marL="0" indent="0">
              <a:lnSpc>
                <a:spcPct val="107000"/>
              </a:lnSpc>
              <a:spcAft>
                <a:spcPts val="800"/>
              </a:spcAft>
              <a:buNone/>
            </a:pPr>
            <a:r>
              <a:rPr lang="en-GB" sz="1300" dirty="0">
                <a:latin typeface="Calibri" panose="020F0502020204030204" pitchFamily="34" charset="0"/>
                <a:ea typeface="Calibri" panose="020F0502020204030204" pitchFamily="34" charset="0"/>
                <a:cs typeface="Times New Roman" panose="02020603050405020304" pitchFamily="18" charset="0"/>
              </a:rPr>
              <a:t>T</a:t>
            </a:r>
            <a:r>
              <a:rPr lang="en-GB" sz="1300" dirty="0">
                <a:effectLst/>
                <a:latin typeface="Calibri" panose="020F0502020204030204" pitchFamily="34" charset="0"/>
                <a:ea typeface="Calibri" panose="020F0502020204030204" pitchFamily="34" charset="0"/>
                <a:cs typeface="Times New Roman" panose="02020603050405020304" pitchFamily="18" charset="0"/>
              </a:rPr>
              <a:t>he </a:t>
            </a:r>
            <a:r>
              <a:rPr lang="en-GB" sz="1300" b="1" dirty="0">
                <a:effectLst/>
                <a:latin typeface="Calibri" panose="020F0502020204030204" pitchFamily="34" charset="0"/>
                <a:ea typeface="Calibri" panose="020F0502020204030204" pitchFamily="34" charset="0"/>
                <a:cs typeface="Times New Roman" panose="02020603050405020304" pitchFamily="18" charset="0"/>
              </a:rPr>
              <a:t>cons of MSE are </a:t>
            </a:r>
            <a:r>
              <a:rPr lang="en-GB" sz="1300" dirty="0">
                <a:effectLst/>
                <a:latin typeface="Calibri" panose="020F0502020204030204" pitchFamily="34" charset="0"/>
                <a:ea typeface="Calibri" panose="020F0502020204030204" pitchFamily="34" charset="0"/>
                <a:cs typeface="Times New Roman" panose="02020603050405020304" pitchFamily="18" charset="0"/>
              </a:rPr>
              <a:t>related to Variance – since the iterative process performs the exact same calculation on all data points, it is inherently prone to outliers. </a:t>
            </a:r>
            <a:r>
              <a:rPr lang="en-GB" sz="1300" dirty="0">
                <a:latin typeface="Calibri" panose="020F0502020204030204" pitchFamily="34" charset="0"/>
                <a:ea typeface="Calibri" panose="020F0502020204030204" pitchFamily="34" charset="0"/>
                <a:cs typeface="Times New Roman" panose="02020603050405020304" pitchFamily="18" charset="0"/>
              </a:rPr>
              <a:t>Large outliers will results in larger error </a:t>
            </a:r>
            <a:r>
              <a:rPr lang="en-GB" sz="1300" dirty="0">
                <a:effectLst/>
                <a:latin typeface="Calibri" panose="020F0502020204030204" pitchFamily="34" charset="0"/>
                <a:ea typeface="Calibri" panose="020F0502020204030204" pitchFamily="34" charset="0"/>
                <a:cs typeface="Times New Roman" panose="02020603050405020304" pitchFamily="18" charset="0"/>
              </a:rPr>
              <a:t>in the MSE score. This is further amplified when one uses RMSE (the root version of MSE) because the calculation squares the difference first and then takes the root of it, hence amplifying the error margin. Conversely, if most of the outliers are removed during the pre-processing stage, then RMSE will yield a result with higher degree of accuracy.  </a:t>
            </a:r>
          </a:p>
          <a:p>
            <a:pPr marL="0" indent="0">
              <a:lnSpc>
                <a:spcPct val="107000"/>
              </a:lnSpc>
              <a:spcAft>
                <a:spcPts val="800"/>
              </a:spcAft>
              <a:buNone/>
            </a:pPr>
            <a:r>
              <a:rPr lang="en-GB" sz="1300" u="sng" dirty="0">
                <a:effectLst/>
                <a:latin typeface="Calibri" panose="020F0502020204030204" pitchFamily="34" charset="0"/>
                <a:ea typeface="Calibri" panose="020F0502020204030204" pitchFamily="34" charset="0"/>
                <a:cs typeface="Times New Roman" panose="02020603050405020304" pitchFamily="18" charset="0"/>
              </a:rPr>
              <a:t>MAE</a:t>
            </a:r>
            <a:r>
              <a:rPr lang="en-GB" sz="1300" dirty="0">
                <a:effectLst/>
                <a:latin typeface="Calibri" panose="020F0502020204030204" pitchFamily="34" charset="0"/>
                <a:ea typeface="Calibri" panose="020F0502020204030204" pitchFamily="34" charset="0"/>
                <a:cs typeface="Times New Roman" panose="02020603050405020304" pitchFamily="18" charset="0"/>
              </a:rPr>
              <a:t> – mean absolute error measures the average magnitude of the errors in a set of predictions, without considering their direction. It’s the average over the test sample of the absolute differences between prediction and actual observation where all individual differences have equal weight. It is negatively oriented, so the lower the value the better. Similarly to MSE, </a:t>
            </a:r>
            <a:r>
              <a:rPr lang="en-GB" sz="1300" b="1" dirty="0">
                <a:effectLst/>
                <a:latin typeface="Calibri" panose="020F0502020204030204" pitchFamily="34" charset="0"/>
                <a:ea typeface="Calibri" panose="020F0502020204030204" pitchFamily="34" charset="0"/>
                <a:cs typeface="Times New Roman" panose="02020603050405020304" pitchFamily="18" charset="0"/>
              </a:rPr>
              <a:t>the pros </a:t>
            </a:r>
            <a:r>
              <a:rPr lang="en-GB" sz="1300" dirty="0">
                <a:effectLst/>
                <a:latin typeface="Calibri" panose="020F0502020204030204" pitchFamily="34" charset="0"/>
                <a:ea typeface="Calibri" panose="020F0502020204030204" pitchFamily="34" charset="0"/>
                <a:cs typeface="Times New Roman" panose="02020603050405020304" pitchFamily="18" charset="0"/>
              </a:rPr>
              <a:t>are related to the low computational power, </a:t>
            </a:r>
            <a:r>
              <a:rPr lang="en-GB" sz="1300" b="1" dirty="0">
                <a:effectLst/>
                <a:latin typeface="Calibri" panose="020F0502020204030204" pitchFamily="34" charset="0"/>
                <a:ea typeface="Calibri" panose="020F0502020204030204" pitchFamily="34" charset="0"/>
                <a:cs typeface="Times New Roman" panose="02020603050405020304" pitchFamily="18" charset="0"/>
              </a:rPr>
              <a:t>and the cons</a:t>
            </a:r>
            <a:r>
              <a:rPr lang="en-GB" sz="1300" dirty="0">
                <a:effectLst/>
                <a:latin typeface="Calibri" panose="020F0502020204030204" pitchFamily="34" charset="0"/>
                <a:ea typeface="Calibri" panose="020F0502020204030204" pitchFamily="34" charset="0"/>
                <a:cs typeface="Times New Roman" panose="02020603050405020304" pitchFamily="18" charset="0"/>
              </a:rPr>
              <a:t> are that since the differences between actual and forecast are weighted equally in the final average, big outliers will have </a:t>
            </a:r>
            <a:r>
              <a:rPr lang="en-GB" sz="1300" dirty="0">
                <a:latin typeface="Calibri" panose="020F0502020204030204" pitchFamily="34" charset="0"/>
                <a:ea typeface="Calibri" panose="020F0502020204030204" pitchFamily="34" charset="0"/>
                <a:cs typeface="Times New Roman" panose="02020603050405020304" pitchFamily="18" charset="0"/>
              </a:rPr>
              <a:t>negative</a:t>
            </a:r>
            <a:r>
              <a:rPr lang="en-GB" sz="1300" dirty="0">
                <a:effectLst/>
                <a:latin typeface="Calibri" panose="020F0502020204030204" pitchFamily="34" charset="0"/>
                <a:ea typeface="Calibri" panose="020F0502020204030204" pitchFamily="34" charset="0"/>
                <a:cs typeface="Times New Roman" panose="02020603050405020304" pitchFamily="18" charset="0"/>
              </a:rPr>
              <a:t> impact on the final score.</a:t>
            </a:r>
          </a:p>
        </p:txBody>
      </p:sp>
      <p:sp>
        <p:nvSpPr>
          <p:cNvPr id="4" name="Date Placeholder 3">
            <a:extLst>
              <a:ext uri="{FF2B5EF4-FFF2-40B4-BE49-F238E27FC236}">
                <a16:creationId xmlns:a16="http://schemas.microsoft.com/office/drawing/2014/main" id="{6D514400-7E80-414B-9170-55C03F7D73C8}"/>
              </a:ext>
            </a:extLst>
          </p:cNvPr>
          <p:cNvSpPr>
            <a:spLocks noGrp="1"/>
          </p:cNvSpPr>
          <p:nvPr>
            <p:ph type="dt" sz="half" idx="10"/>
          </p:nvPr>
        </p:nvSpPr>
        <p:spPr/>
        <p:txBody>
          <a:bodyPr/>
          <a:lstStyle/>
          <a:p>
            <a:fld id="{55F6A4FD-3FB3-4DD7-BE10-3A14C0569DA2}" type="datetime1">
              <a:rPr lang="en-US" smtClean="0"/>
              <a:t>7/29/2020</a:t>
            </a:fld>
            <a:endParaRPr lang="en-US" dirty="0"/>
          </a:p>
        </p:txBody>
      </p:sp>
      <p:sp>
        <p:nvSpPr>
          <p:cNvPr id="5" name="Footer Placeholder 4">
            <a:extLst>
              <a:ext uri="{FF2B5EF4-FFF2-40B4-BE49-F238E27FC236}">
                <a16:creationId xmlns:a16="http://schemas.microsoft.com/office/drawing/2014/main" id="{85E07302-4FD9-431B-BB6A-BA3276997F41}"/>
              </a:ext>
            </a:extLst>
          </p:cNvPr>
          <p:cNvSpPr>
            <a:spLocks noGrp="1"/>
          </p:cNvSpPr>
          <p:nvPr>
            <p:ph type="ftr" sz="quarter" idx="11"/>
          </p:nvPr>
        </p:nvSpPr>
        <p:spPr/>
        <p:txBody>
          <a:bodyPr/>
          <a:lstStyle/>
          <a:p>
            <a:r>
              <a:rPr lang="en-US"/>
              <a:t>Dr Dimitar Dimov - Data Analyst Candidate at LOR</a:t>
            </a:r>
            <a:endParaRPr lang="en-US" dirty="0"/>
          </a:p>
        </p:txBody>
      </p:sp>
      <p:sp>
        <p:nvSpPr>
          <p:cNvPr id="6" name="Slide Number Placeholder 5">
            <a:extLst>
              <a:ext uri="{FF2B5EF4-FFF2-40B4-BE49-F238E27FC236}">
                <a16:creationId xmlns:a16="http://schemas.microsoft.com/office/drawing/2014/main" id="{FB3DEFD4-9003-4A2B-B7E7-F8B933A4498F}"/>
              </a:ext>
            </a:extLst>
          </p:cNvPr>
          <p:cNvSpPr>
            <a:spLocks noGrp="1"/>
          </p:cNvSpPr>
          <p:nvPr>
            <p:ph type="sldNum" sz="quarter" idx="12"/>
          </p:nvPr>
        </p:nvSpPr>
        <p:spPr/>
        <p:txBody>
          <a:bodyPr/>
          <a:lstStyle/>
          <a:p>
            <a:fld id="{69E57DC2-970A-4B3E-BB1C-7A09969E49DF}" type="slidenum">
              <a:rPr lang="en-US" smtClean="0"/>
              <a:t>14</a:t>
            </a:fld>
            <a:endParaRPr lang="en-US" dirty="0"/>
          </a:p>
        </p:txBody>
      </p:sp>
      <p:sp>
        <p:nvSpPr>
          <p:cNvPr id="8" name="Title 1">
            <a:extLst>
              <a:ext uri="{FF2B5EF4-FFF2-40B4-BE49-F238E27FC236}">
                <a16:creationId xmlns:a16="http://schemas.microsoft.com/office/drawing/2014/main" id="{4D7530BC-53DA-4629-A92E-B667B92497EC}"/>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8</a:t>
            </a:r>
          </a:p>
        </p:txBody>
      </p:sp>
    </p:spTree>
    <p:extLst>
      <p:ext uri="{BB962C8B-B14F-4D97-AF65-F5344CB8AC3E}">
        <p14:creationId xmlns:p14="http://schemas.microsoft.com/office/powerpoint/2010/main" val="2778492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C46EB9-71F3-493D-9C48-C8392D9F501D}"/>
              </a:ext>
            </a:extLst>
          </p:cNvPr>
          <p:cNvSpPr>
            <a:spLocks noGrp="1"/>
          </p:cNvSpPr>
          <p:nvPr>
            <p:ph idx="1"/>
          </p:nvPr>
        </p:nvSpPr>
        <p:spPr>
          <a:xfrm>
            <a:off x="1371600" y="1411705"/>
            <a:ext cx="9697428" cy="4829704"/>
          </a:xfrm>
        </p:spPr>
        <p:txBody>
          <a:bodyPr>
            <a:normAutofit lnSpcReduction="10000"/>
          </a:bodyPr>
          <a:lstStyle/>
          <a:p>
            <a:pPr marL="0" indent="0">
              <a:lnSpc>
                <a:spcPct val="107000"/>
              </a:lnSpc>
              <a:spcAft>
                <a:spcPts val="800"/>
              </a:spcAft>
              <a:buNone/>
            </a:pPr>
            <a:r>
              <a:rPr lang="en-GB" sz="1300" dirty="0">
                <a:effectLst/>
                <a:latin typeface="Calibri" panose="020F0502020204030204" pitchFamily="34" charset="0"/>
                <a:ea typeface="Calibri" panose="020F0502020204030204" pitchFamily="34" charset="0"/>
                <a:cs typeface="Times New Roman" panose="02020603050405020304" pitchFamily="18" charset="0"/>
              </a:rPr>
              <a:t>Linear regression (LR) is a statistical model which assesses the relationship between two variables and predicts the dependent variable values as a function of the independent variables. It can be a simple regression (with one independent variable) or multivariate regression where multiple features are selected to predict the values of the explanatory variable. Before doing the exploratory analysis of the dataset, I would brainstorm whether a logical correlation between the two variables exists in the first place</a:t>
            </a:r>
            <a:r>
              <a:rPr lang="en-GB" sz="1300" dirty="0">
                <a:latin typeface="Calibri" panose="020F0502020204030204" pitchFamily="34" charset="0"/>
                <a:ea typeface="Calibri" panose="020F0502020204030204" pitchFamily="34" charset="0"/>
                <a:cs typeface="Times New Roman" panose="02020603050405020304" pitchFamily="18" charset="0"/>
              </a:rPr>
              <a:t> and then proceed with LR. If there </a:t>
            </a:r>
            <a:r>
              <a:rPr lang="en-GB" sz="1300">
                <a:latin typeface="Calibri" panose="020F0502020204030204" pitchFamily="34" charset="0"/>
                <a:ea typeface="Calibri" panose="020F0502020204030204" pitchFamily="34" charset="0"/>
                <a:cs typeface="Times New Roman" panose="02020603050405020304" pitchFamily="18" charset="0"/>
              </a:rPr>
              <a:t>is no correlation </a:t>
            </a:r>
            <a:r>
              <a:rPr lang="en-GB" sz="1300" dirty="0">
                <a:latin typeface="Calibri" panose="020F0502020204030204" pitchFamily="34" charset="0"/>
                <a:ea typeface="Calibri" panose="020F0502020204030204" pitchFamily="34" charset="0"/>
                <a:cs typeface="Times New Roman" panose="02020603050405020304" pitchFamily="18" charset="0"/>
              </a:rPr>
              <a:t>and logical linear dependence between the variables</a:t>
            </a:r>
            <a:r>
              <a:rPr lang="en-GB" sz="1300">
                <a:latin typeface="Calibri" panose="020F0502020204030204" pitchFamily="34" charset="0"/>
                <a:ea typeface="Calibri" panose="020F0502020204030204" pitchFamily="34" charset="0"/>
                <a:cs typeface="Times New Roman" panose="02020603050405020304" pitchFamily="18" charset="0"/>
              </a:rPr>
              <a:t>, perhaps, </a:t>
            </a:r>
            <a:r>
              <a:rPr lang="en-GB" sz="1300" dirty="0">
                <a:latin typeface="Calibri" panose="020F0502020204030204" pitchFamily="34" charset="0"/>
                <a:ea typeface="Calibri" panose="020F0502020204030204" pitchFamily="34" charset="0"/>
                <a:cs typeface="Times New Roman" panose="02020603050405020304" pitchFamily="18" charset="0"/>
              </a:rPr>
              <a:t>another machine learning model would be more suitable. </a:t>
            </a:r>
            <a:endParaRPr lang="en-GB" sz="13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GB" sz="1300" dirty="0">
                <a:effectLst/>
                <a:latin typeface="Calibri" panose="020F0502020204030204" pitchFamily="34" charset="0"/>
                <a:ea typeface="Calibri" panose="020F0502020204030204" pitchFamily="34" charset="0"/>
                <a:cs typeface="Times New Roman" panose="02020603050405020304" pitchFamily="18" charset="0"/>
              </a:rPr>
              <a:t>Then, there are couple of mathematical assumptions that need to be taken into account:</a:t>
            </a:r>
          </a:p>
          <a:p>
            <a:pPr lvl="1">
              <a:lnSpc>
                <a:spcPct val="107000"/>
              </a:lnSpc>
            </a:pPr>
            <a:r>
              <a:rPr lang="en-GB" sz="1200" dirty="0">
                <a:effectLst/>
                <a:latin typeface="Calibri" panose="020F0502020204030204" pitchFamily="34" charset="0"/>
                <a:ea typeface="Calibri" panose="020F0502020204030204" pitchFamily="34" charset="0"/>
                <a:cs typeface="Times New Roman" panose="02020603050405020304" pitchFamily="18" charset="0"/>
              </a:rPr>
              <a:t>Linearity and additivity – the expected value of the dependent variable is a straight-line function of each independent variable</a:t>
            </a:r>
          </a:p>
          <a:p>
            <a:pPr lvl="1">
              <a:lnSpc>
                <a:spcPct val="107000"/>
              </a:lnSpc>
            </a:pPr>
            <a:r>
              <a:rPr lang="en-GB" sz="1200" dirty="0">
                <a:effectLst/>
                <a:latin typeface="Calibri" panose="020F0502020204030204" pitchFamily="34" charset="0"/>
                <a:ea typeface="Calibri" panose="020F0502020204030204" pitchFamily="34" charset="0"/>
                <a:cs typeface="Times New Roman" panose="02020603050405020304" pitchFamily="18" charset="0"/>
              </a:rPr>
              <a:t>Statistical independence of the errors – specifically for time-series data, no correlation between two consecutive errors should be present</a:t>
            </a:r>
          </a:p>
          <a:p>
            <a:pPr lvl="1">
              <a:lnSpc>
                <a:spcPct val="107000"/>
              </a:lnSpc>
              <a:spcAft>
                <a:spcPts val="8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Homoscedasticity – constant variance of the errors exists</a:t>
            </a:r>
          </a:p>
          <a:p>
            <a:pPr marL="0" indent="0">
              <a:lnSpc>
                <a:spcPct val="107000"/>
              </a:lnSpc>
              <a:spcAft>
                <a:spcPts val="800"/>
              </a:spcAft>
              <a:buNone/>
            </a:pPr>
            <a:r>
              <a:rPr lang="en-GB" sz="1300" dirty="0">
                <a:effectLst/>
                <a:latin typeface="Calibri" panose="020F0502020204030204" pitchFamily="34" charset="0"/>
                <a:ea typeface="Calibri" panose="020F0502020204030204" pitchFamily="34" charset="0"/>
                <a:cs typeface="Times New Roman" panose="02020603050405020304" pitchFamily="18" charset="0"/>
              </a:rPr>
              <a:t>From programming perspective, one should not start training a LR model prior to cleaning the data. All missing cells should be either removed or filled with either the average value of the sample, or the value of the preceding cell, otherwise the evaluation metric (MSE or MAE) will contain errors. The drawbacks of LR are:</a:t>
            </a:r>
          </a:p>
          <a:p>
            <a:pPr lvl="1">
              <a:lnSpc>
                <a:spcPct val="107000"/>
              </a:lnSpc>
            </a:pPr>
            <a:r>
              <a:rPr lang="en-GB" sz="1200" dirty="0">
                <a:effectLst/>
                <a:latin typeface="Calibri" panose="020F0502020204030204" pitchFamily="34" charset="0"/>
                <a:ea typeface="Calibri" panose="020F0502020204030204" pitchFamily="34" charset="0"/>
                <a:cs typeface="Times New Roman" panose="02020603050405020304" pitchFamily="18" charset="0"/>
              </a:rPr>
              <a:t>it is useful when the relationship between the variables is naturally linear but LR would be an inaccurate model for curved relationship (for example wealth and age have an exponential type of curve, it is rarely linear)</a:t>
            </a:r>
          </a:p>
          <a:p>
            <a:pPr lvl="1">
              <a:lnSpc>
                <a:spcPct val="107000"/>
              </a:lnSpc>
            </a:pPr>
            <a:r>
              <a:rPr lang="en-GB" sz="1200" dirty="0">
                <a:effectLst/>
                <a:latin typeface="Calibri" panose="020F0502020204030204" pitchFamily="34" charset="0"/>
                <a:ea typeface="Calibri" panose="020F0502020204030204" pitchFamily="34" charset="0"/>
                <a:cs typeface="Times New Roman" panose="02020603050405020304" pitchFamily="18" charset="0"/>
              </a:rPr>
              <a:t>it only looks at the mean of the dependent variable – this does not factor in low quantiles (extremes) which in some cases might be very relevant for the relationship between the variables</a:t>
            </a:r>
          </a:p>
          <a:p>
            <a:pPr lvl="1">
              <a:lnSpc>
                <a:spcPct val="107000"/>
              </a:lnSpc>
            </a:pPr>
            <a:r>
              <a:rPr lang="en-GB" sz="1200" dirty="0">
                <a:effectLst/>
                <a:latin typeface="Calibri" panose="020F0502020204030204" pitchFamily="34" charset="0"/>
                <a:ea typeface="Calibri" panose="020F0502020204030204" pitchFamily="34" charset="0"/>
                <a:cs typeface="Times New Roman" panose="02020603050405020304" pitchFamily="18" charset="0"/>
              </a:rPr>
              <a:t>it is very prone to outliers so unless those are completely removed the overall evaluation metric will have a high degree of error</a:t>
            </a:r>
          </a:p>
          <a:p>
            <a:pPr lvl="1">
              <a:lnSpc>
                <a:spcPct val="107000"/>
              </a:lnSpc>
              <a:spcAft>
                <a:spcPts val="8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variables should be strictly independent – in many cases, especially with large datasets, clusters with centroids are often found so LR can not be applied</a:t>
            </a:r>
          </a:p>
        </p:txBody>
      </p:sp>
      <p:sp>
        <p:nvSpPr>
          <p:cNvPr id="4" name="Date Placeholder 3">
            <a:extLst>
              <a:ext uri="{FF2B5EF4-FFF2-40B4-BE49-F238E27FC236}">
                <a16:creationId xmlns:a16="http://schemas.microsoft.com/office/drawing/2014/main" id="{F998B677-0C59-4A4B-81B9-8627936DA504}"/>
              </a:ext>
            </a:extLst>
          </p:cNvPr>
          <p:cNvSpPr>
            <a:spLocks noGrp="1"/>
          </p:cNvSpPr>
          <p:nvPr>
            <p:ph type="dt" sz="half" idx="10"/>
          </p:nvPr>
        </p:nvSpPr>
        <p:spPr/>
        <p:txBody>
          <a:bodyPr/>
          <a:lstStyle/>
          <a:p>
            <a:fld id="{012172D5-7AC0-4939-B642-40229E1FCB1D}" type="datetime1">
              <a:rPr lang="en-US" smtClean="0"/>
              <a:t>7/29/2020</a:t>
            </a:fld>
            <a:endParaRPr lang="en-US" dirty="0"/>
          </a:p>
        </p:txBody>
      </p:sp>
      <p:sp>
        <p:nvSpPr>
          <p:cNvPr id="5" name="Footer Placeholder 4">
            <a:extLst>
              <a:ext uri="{FF2B5EF4-FFF2-40B4-BE49-F238E27FC236}">
                <a16:creationId xmlns:a16="http://schemas.microsoft.com/office/drawing/2014/main" id="{410660B8-4F7F-42CB-8AE9-1E1B3D4FB2A5}"/>
              </a:ext>
            </a:extLst>
          </p:cNvPr>
          <p:cNvSpPr>
            <a:spLocks noGrp="1"/>
          </p:cNvSpPr>
          <p:nvPr>
            <p:ph type="ftr" sz="quarter" idx="11"/>
          </p:nvPr>
        </p:nvSpPr>
        <p:spPr/>
        <p:txBody>
          <a:bodyPr/>
          <a:lstStyle/>
          <a:p>
            <a:r>
              <a:rPr lang="en-US"/>
              <a:t>Dr Dimitar Dimov - Data Analyst Candidate at LOR</a:t>
            </a:r>
            <a:endParaRPr lang="en-US" dirty="0"/>
          </a:p>
        </p:txBody>
      </p:sp>
      <p:sp>
        <p:nvSpPr>
          <p:cNvPr id="6" name="Slide Number Placeholder 5">
            <a:extLst>
              <a:ext uri="{FF2B5EF4-FFF2-40B4-BE49-F238E27FC236}">
                <a16:creationId xmlns:a16="http://schemas.microsoft.com/office/drawing/2014/main" id="{D67DF51B-8E3B-402E-B180-C145723A047D}"/>
              </a:ext>
            </a:extLst>
          </p:cNvPr>
          <p:cNvSpPr>
            <a:spLocks noGrp="1"/>
          </p:cNvSpPr>
          <p:nvPr>
            <p:ph type="sldNum" sz="quarter" idx="12"/>
          </p:nvPr>
        </p:nvSpPr>
        <p:spPr/>
        <p:txBody>
          <a:bodyPr/>
          <a:lstStyle/>
          <a:p>
            <a:fld id="{69E57DC2-970A-4B3E-BB1C-7A09969E49DF}" type="slidenum">
              <a:rPr lang="en-US" smtClean="0"/>
              <a:t>15</a:t>
            </a:fld>
            <a:endParaRPr lang="en-US" dirty="0"/>
          </a:p>
        </p:txBody>
      </p:sp>
      <p:sp>
        <p:nvSpPr>
          <p:cNvPr id="8" name="Title 1">
            <a:extLst>
              <a:ext uri="{FF2B5EF4-FFF2-40B4-BE49-F238E27FC236}">
                <a16:creationId xmlns:a16="http://schemas.microsoft.com/office/drawing/2014/main" id="{C9FB6CE6-684D-4B12-A02F-E17C64CCA6B2}"/>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9</a:t>
            </a:r>
          </a:p>
        </p:txBody>
      </p:sp>
    </p:spTree>
    <p:extLst>
      <p:ext uri="{BB962C8B-B14F-4D97-AF65-F5344CB8AC3E}">
        <p14:creationId xmlns:p14="http://schemas.microsoft.com/office/powerpoint/2010/main" val="1333780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1CE76-0F88-42D0-BBD1-3DBA04F5F4CD}"/>
              </a:ext>
            </a:extLst>
          </p:cNvPr>
          <p:cNvSpPr>
            <a:spLocks noGrp="1"/>
          </p:cNvSpPr>
          <p:nvPr>
            <p:ph idx="1"/>
          </p:nvPr>
        </p:nvSpPr>
        <p:spPr>
          <a:xfrm>
            <a:off x="1371600" y="1411705"/>
            <a:ext cx="9601200" cy="4760495"/>
          </a:xfrm>
        </p:spPr>
        <p:txBody>
          <a:bodyPr>
            <a:normAutofit fontScale="92500" lnSpcReduction="20000"/>
          </a:bodyPr>
          <a:lstStyle/>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The three data roles – architect, scientist and analyst, have much in common but also differ a lot mainly in the output of their work. </a:t>
            </a: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The data architect is responsible for creating the infrastructure of the data flow, processes, tools, making sure that the data pipeline works well and the data is fed into the lake consistently without errors. </a:t>
            </a: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The data analyst takes the raw data, applies exploratory analysis by inspecting and cleaning the dataset as well as adding new features of needed. The next step is key – finding trends, conclusions, outliers, creating a story </a:t>
            </a:r>
            <a:r>
              <a:rPr lang="bg-BG" sz="1400" dirty="0">
                <a:effectLst/>
                <a:latin typeface="Calibri" panose="020F0502020204030204" pitchFamily="34" charset="0"/>
                <a:ea typeface="Calibri" panose="020F0502020204030204" pitchFamily="34" charset="0"/>
                <a:cs typeface="Times New Roman" panose="02020603050405020304" pitchFamily="18" charset="0"/>
              </a:rPr>
              <a:t>(</a:t>
            </a:r>
            <a:r>
              <a:rPr lang="en-GB" sz="1400" dirty="0">
                <a:effectLst/>
                <a:latin typeface="Calibri" panose="020F0502020204030204" pitchFamily="34" charset="0"/>
                <a:ea typeface="Calibri" panose="020F0502020204030204" pitchFamily="34" charset="0"/>
                <a:cs typeface="Times New Roman" panose="02020603050405020304" pitchFamily="18" charset="0"/>
              </a:rPr>
              <a:t>powerful visualisations) based on the data and crucially, taking the client on a journey and explaining what this data means for their business. </a:t>
            </a: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On the back of this data visualisation and presentation, the data analyst works together with the client to create and define KPIs and sets new criteria for data collection which will be useful for future KPI analysis and benchmarking. This person has to have strong commercial acumen and excellent client relationship skills. </a:t>
            </a: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The data scientist takes the clean and pre-processed data set and applies complex mathematical and statistical models to predict the future. She/he has the freedom to combine or create new features, explore various machine learning supervised or unsupervised models, even deep neural networks, aiming to create meaningful predictions with minimised error. </a:t>
            </a: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The three roles fit together in the sense that they take the same dataset and despite working towards a different output, they still need to correlate their findings and analysis and work towards a common goal. Both the analyst and the scientist rely on the architect to maintain the data infrastructure which can support the influx of large amounts of information. The analyst and scientist often work together to exchange ideas about interesting trends, irregularities and outliers which can prove to be useful both for the visualisations and for the prediction models. </a:t>
            </a:r>
          </a:p>
          <a:p>
            <a:pPr marL="0" indent="0">
              <a:lnSpc>
                <a:spcPct val="107000"/>
              </a:lnSpc>
              <a:spcAft>
                <a:spcPts val="800"/>
              </a:spcAft>
              <a:buNone/>
            </a:pPr>
            <a:r>
              <a:rPr lang="en-GB" sz="1400" dirty="0">
                <a:effectLst/>
                <a:latin typeface="Calibri" panose="020F0502020204030204" pitchFamily="34" charset="0"/>
                <a:ea typeface="Calibri" panose="020F0502020204030204" pitchFamily="34" charset="0"/>
                <a:cs typeface="Times New Roman" panose="02020603050405020304" pitchFamily="18" charset="0"/>
              </a:rPr>
              <a:t>Communication and team work are probably the two most important skills that the professionals in all three roles should be comfortable with. Sharing ideas, experience and knowledge is key for driving team productivity, growth and increasing efficiency. </a:t>
            </a:r>
            <a:endParaRPr lang="en-GB" sz="1400" dirty="0"/>
          </a:p>
        </p:txBody>
      </p:sp>
      <p:sp>
        <p:nvSpPr>
          <p:cNvPr id="4" name="Date Placeholder 3">
            <a:extLst>
              <a:ext uri="{FF2B5EF4-FFF2-40B4-BE49-F238E27FC236}">
                <a16:creationId xmlns:a16="http://schemas.microsoft.com/office/drawing/2014/main" id="{B716793E-5BBA-4F05-84AC-50A58DB7D33D}"/>
              </a:ext>
            </a:extLst>
          </p:cNvPr>
          <p:cNvSpPr>
            <a:spLocks noGrp="1"/>
          </p:cNvSpPr>
          <p:nvPr>
            <p:ph type="dt" sz="half" idx="10"/>
          </p:nvPr>
        </p:nvSpPr>
        <p:spPr/>
        <p:txBody>
          <a:bodyPr/>
          <a:lstStyle/>
          <a:p>
            <a:fld id="{83B6669B-104B-4686-AF07-78D1D3F3556F}" type="datetime1">
              <a:rPr lang="en-US" smtClean="0"/>
              <a:t>7/29/2020</a:t>
            </a:fld>
            <a:endParaRPr lang="en-US" dirty="0"/>
          </a:p>
        </p:txBody>
      </p:sp>
      <p:sp>
        <p:nvSpPr>
          <p:cNvPr id="5" name="Footer Placeholder 4">
            <a:extLst>
              <a:ext uri="{FF2B5EF4-FFF2-40B4-BE49-F238E27FC236}">
                <a16:creationId xmlns:a16="http://schemas.microsoft.com/office/drawing/2014/main" id="{253DF9D3-BD16-4737-8EAE-349C5D42CEBC}"/>
              </a:ext>
            </a:extLst>
          </p:cNvPr>
          <p:cNvSpPr>
            <a:spLocks noGrp="1"/>
          </p:cNvSpPr>
          <p:nvPr>
            <p:ph type="ftr" sz="quarter" idx="11"/>
          </p:nvPr>
        </p:nvSpPr>
        <p:spPr/>
        <p:txBody>
          <a:bodyPr/>
          <a:lstStyle/>
          <a:p>
            <a:r>
              <a:rPr lang="en-US"/>
              <a:t>Dr Dimitar Dimov - Data Analyst Candidate at LOR</a:t>
            </a:r>
            <a:endParaRPr lang="en-US" dirty="0"/>
          </a:p>
        </p:txBody>
      </p:sp>
      <p:sp>
        <p:nvSpPr>
          <p:cNvPr id="6" name="Slide Number Placeholder 5">
            <a:extLst>
              <a:ext uri="{FF2B5EF4-FFF2-40B4-BE49-F238E27FC236}">
                <a16:creationId xmlns:a16="http://schemas.microsoft.com/office/drawing/2014/main" id="{444401B4-A07C-48F8-AF4A-32020628DED2}"/>
              </a:ext>
            </a:extLst>
          </p:cNvPr>
          <p:cNvSpPr>
            <a:spLocks noGrp="1"/>
          </p:cNvSpPr>
          <p:nvPr>
            <p:ph type="sldNum" sz="quarter" idx="12"/>
          </p:nvPr>
        </p:nvSpPr>
        <p:spPr/>
        <p:txBody>
          <a:bodyPr/>
          <a:lstStyle/>
          <a:p>
            <a:fld id="{69E57DC2-970A-4B3E-BB1C-7A09969E49DF}" type="slidenum">
              <a:rPr lang="en-US" smtClean="0"/>
              <a:t>16</a:t>
            </a:fld>
            <a:endParaRPr lang="en-US" dirty="0"/>
          </a:p>
        </p:txBody>
      </p:sp>
      <p:sp>
        <p:nvSpPr>
          <p:cNvPr id="8" name="Title 1">
            <a:extLst>
              <a:ext uri="{FF2B5EF4-FFF2-40B4-BE49-F238E27FC236}">
                <a16:creationId xmlns:a16="http://schemas.microsoft.com/office/drawing/2014/main" id="{024B4CC3-35F4-48BD-94CF-E21D7AD6955F}"/>
              </a:ext>
            </a:extLst>
          </p:cNvPr>
          <p:cNvSpPr txBox="1">
            <a:spLocks/>
          </p:cNvSpPr>
          <p:nvPr/>
        </p:nvSpPr>
        <p:spPr>
          <a:xfrm>
            <a:off x="1371600" y="685800"/>
            <a:ext cx="9601200" cy="72590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GB" dirty="0"/>
              <a:t>Question 10</a:t>
            </a:r>
          </a:p>
        </p:txBody>
      </p:sp>
    </p:spTree>
    <p:extLst>
      <p:ext uri="{BB962C8B-B14F-4D97-AF65-F5344CB8AC3E}">
        <p14:creationId xmlns:p14="http://schemas.microsoft.com/office/powerpoint/2010/main" val="2296380813"/>
      </p:ext>
    </p:extLst>
  </p:cSld>
  <p:clrMapOvr>
    <a:masterClrMapping/>
  </p:clrMapOvr>
</p:sld>
</file>

<file path=ppt/theme/theme1.xml><?xml version="1.0" encoding="utf-8"?>
<a:theme xmlns:a="http://schemas.openxmlformats.org/drawingml/2006/main" name="Crop">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TM10001105[[fn=Crop]]</Template>
  <TotalTime>647</TotalTime>
  <Words>3650</Words>
  <Application>Microsoft Office PowerPoint</Application>
  <PresentationFormat>Widescreen</PresentationFormat>
  <Paragraphs>199</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Courier New</vt:lpstr>
      <vt:lpstr>Franklin Gothic Book</vt:lpstr>
      <vt:lpstr>Symbol</vt:lpstr>
      <vt:lpstr>Crop</vt:lpstr>
      <vt:lpstr>Data analyst  technical assessment Answers</vt:lpstr>
      <vt:lpstr>Question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analyst  technical assessment</dc:title>
  <dc:creator>Dimitar Dimov</dc:creator>
  <cp:lastModifiedBy>Dimitar Dimov</cp:lastModifiedBy>
  <cp:revision>113</cp:revision>
  <dcterms:created xsi:type="dcterms:W3CDTF">2020-07-28T10:08:36Z</dcterms:created>
  <dcterms:modified xsi:type="dcterms:W3CDTF">2020-07-29T15:00:07Z</dcterms:modified>
</cp:coreProperties>
</file>